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64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55AEB-60DA-461F-9124-5E397E484CF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CF4734-4DE8-4C14-A20E-1FDB52AE9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98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F4734-4DE8-4C14-A20E-1FDB52AE9E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73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0826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1F1F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0826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1F1F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0826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rgbClr val="0826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2663" y="2151766"/>
            <a:ext cx="2638663" cy="91096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51027" y="3094146"/>
            <a:ext cx="2230298" cy="12565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22774" y="1916171"/>
            <a:ext cx="2858551" cy="15235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5702" y="824970"/>
            <a:ext cx="10733927" cy="13618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rgbClr val="08263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97393" y="4112174"/>
            <a:ext cx="8328025" cy="4342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1F1F1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48287" y="6188075"/>
            <a:ext cx="9713595" cy="143954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27940" algn="ctr">
              <a:lnSpc>
                <a:spcPct val="100000"/>
              </a:lnSpc>
              <a:spcBef>
                <a:spcPts val="1215"/>
              </a:spcBef>
            </a:pP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Smart</a:t>
            </a:r>
            <a:r>
              <a:rPr sz="3700" spc="-2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Mine</a:t>
            </a:r>
            <a:r>
              <a:rPr sz="3700" spc="-2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Safety</a:t>
            </a:r>
            <a:r>
              <a:rPr sz="3700" spc="-2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spc="50" dirty="0">
                <a:solidFill>
                  <a:srgbClr val="FFC000"/>
                </a:solidFill>
                <a:latin typeface="Calibri"/>
                <a:cs typeface="Calibri"/>
              </a:rPr>
              <a:t>&amp;</a:t>
            </a:r>
            <a:r>
              <a:rPr sz="3700" spc="-2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Monitoring</a:t>
            </a:r>
            <a:r>
              <a:rPr sz="370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spc="-10" dirty="0">
                <a:solidFill>
                  <a:srgbClr val="FFC000"/>
                </a:solidFill>
                <a:latin typeface="Calibri"/>
                <a:cs typeface="Calibri"/>
              </a:rPr>
              <a:t>System</a:t>
            </a:r>
            <a:endParaRPr sz="3700" dirty="0">
              <a:solidFill>
                <a:srgbClr val="FFC000"/>
              </a:solidFill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25"/>
              </a:spcBef>
            </a:pPr>
            <a:r>
              <a:rPr sz="3700" spc="-45" dirty="0">
                <a:solidFill>
                  <a:srgbClr val="FFC000"/>
                </a:solidFill>
                <a:latin typeface="Calibri"/>
                <a:cs typeface="Calibri"/>
              </a:rPr>
              <a:t>Real-</a:t>
            </a: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Time</a:t>
            </a:r>
            <a:r>
              <a:rPr sz="3700" spc="1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Hazard</a:t>
            </a:r>
            <a:r>
              <a:rPr sz="3700" spc="10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Detection</a:t>
            </a:r>
            <a:r>
              <a:rPr sz="3700" spc="-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spc="50" dirty="0">
                <a:solidFill>
                  <a:srgbClr val="FFC000"/>
                </a:solidFill>
                <a:latin typeface="Calibri"/>
                <a:cs typeface="Calibri"/>
              </a:rPr>
              <a:t>&amp;</a:t>
            </a:r>
            <a:r>
              <a:rPr sz="3700" spc="-2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FFC000"/>
                </a:solidFill>
                <a:latin typeface="Calibri"/>
                <a:cs typeface="Calibri"/>
              </a:rPr>
              <a:t>Safety</a:t>
            </a:r>
            <a:r>
              <a:rPr sz="37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3700" spc="-10" dirty="0">
                <a:solidFill>
                  <a:srgbClr val="FFC000"/>
                </a:solidFill>
                <a:latin typeface="Calibri"/>
                <a:cs typeface="Calibri"/>
              </a:rPr>
              <a:t>Management</a:t>
            </a:r>
            <a:endParaRPr sz="370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2" y="1920875"/>
            <a:ext cx="2938564" cy="1728848"/>
          </a:xfrm>
          <a:prstGeom prst="rect">
            <a:avLst/>
          </a:prstGeom>
        </p:spPr>
      </p:pic>
      <p:pic>
        <p:nvPicPr>
          <p:cNvPr id="10" name="Image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1850" y="396875"/>
            <a:ext cx="2590800" cy="21336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6623049" y="4102607"/>
            <a:ext cx="7164070" cy="1694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950" spc="-1090" dirty="0">
                <a:solidFill>
                  <a:srgbClr val="FFC000"/>
                </a:solidFill>
                <a:latin typeface="Arial MT"/>
                <a:cs typeface="Arial MT"/>
              </a:rPr>
              <a:t>MINESHIELD</a:t>
            </a:r>
            <a:endParaRPr sz="10950" dirty="0">
              <a:solidFill>
                <a:srgbClr val="FFC000"/>
              </a:solidFill>
              <a:latin typeface="Arial MT"/>
              <a:cs typeface="Arial MT"/>
            </a:endParaRPr>
          </a:p>
        </p:txBody>
      </p:sp>
      <p:pic>
        <p:nvPicPr>
          <p:cNvPr id="11" name="Image 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36825" y="0"/>
            <a:ext cx="4867275" cy="3373755"/>
          </a:xfrm>
          <a:prstGeom prst="rect">
            <a:avLst/>
          </a:prstGeom>
        </p:spPr>
      </p:pic>
      <p:pic>
        <p:nvPicPr>
          <p:cNvPr id="12" name="Image 1"/>
          <p:cNvPicPr/>
          <p:nvPr/>
        </p:nvPicPr>
        <p:blipFill>
          <a:blip r:embed="rId5" cstate="print"/>
          <a:stretch>
            <a:fillRect/>
          </a:stretch>
        </p:blipFill>
        <p:spPr>
          <a:xfrm rot="10800000">
            <a:off x="0" y="7935595"/>
            <a:ext cx="4867275" cy="33737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7532" y="1006475"/>
            <a:ext cx="10733927" cy="102335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20"/>
              </a:spcBef>
            </a:pPr>
            <a:r>
              <a:rPr sz="6550" b="1" dirty="0">
                <a:solidFill>
                  <a:srgbClr val="0A243B"/>
                </a:solidFill>
                <a:latin typeface="Calibri"/>
                <a:cs typeface="Calibri"/>
              </a:rPr>
              <a:t>Problem</a:t>
            </a:r>
            <a:r>
              <a:rPr sz="6550" b="1" spc="204" dirty="0">
                <a:solidFill>
                  <a:srgbClr val="0A243B"/>
                </a:solidFill>
                <a:latin typeface="Calibri"/>
                <a:cs typeface="Calibri"/>
              </a:rPr>
              <a:t> </a:t>
            </a:r>
            <a:r>
              <a:rPr lang="en-US" sz="6550" spc="95" dirty="0" smtClean="0">
                <a:solidFill>
                  <a:srgbClr val="FFC000"/>
                </a:solidFill>
                <a:latin typeface="Calibri"/>
                <a:cs typeface="Calibri"/>
              </a:rPr>
              <a:t>Definition</a:t>
            </a:r>
            <a:endParaRPr sz="65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7532" y="4078143"/>
            <a:ext cx="8020684" cy="46371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5080" indent="-9525">
              <a:lnSpc>
                <a:spcPct val="122000"/>
              </a:lnSpc>
              <a:spcBef>
                <a:spcPts val="100"/>
              </a:spcBef>
            </a:pP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Outdated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Systems:</a:t>
            </a:r>
            <a:r>
              <a:rPr sz="2450" spc="-1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 smtClean="0">
                <a:solidFill>
                  <a:srgbClr val="FFC000"/>
                </a:solidFill>
                <a:latin typeface="Calibri"/>
                <a:cs typeface="Calibri"/>
              </a:rPr>
              <a:t>Traditional</a:t>
            </a:r>
            <a:r>
              <a:rPr sz="2450" spc="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 smtClean="0">
                <a:solidFill>
                  <a:srgbClr val="FFC000"/>
                </a:solidFill>
                <a:latin typeface="Calibri"/>
                <a:cs typeface="Calibri"/>
              </a:rPr>
              <a:t>mining</a:t>
            </a:r>
            <a:r>
              <a:rPr lang="en-US" sz="2450" spc="-160" dirty="0" smtClean="0">
                <a:solidFill>
                  <a:srgbClr val="FFC000"/>
                </a:solidFill>
                <a:latin typeface="Calibri"/>
                <a:cs typeface="Calibri"/>
              </a:rPr>
              <a:t>, </a:t>
            </a:r>
            <a:r>
              <a:rPr sz="2450" spc="-35" dirty="0" smtClean="0">
                <a:solidFill>
                  <a:srgbClr val="FFC000"/>
                </a:solidFill>
                <a:latin typeface="Calibri"/>
                <a:cs typeface="Calibri"/>
              </a:rPr>
              <a:t>relies</a:t>
            </a:r>
            <a:r>
              <a:rPr sz="2450" spc="-114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on</a:t>
            </a:r>
            <a:r>
              <a:rPr sz="2450" spc="-2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manual</a:t>
            </a:r>
            <a:r>
              <a:rPr sz="245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2450" spc="-10" dirty="0" smtClean="0">
                <a:solidFill>
                  <a:srgbClr val="FFC000"/>
                </a:solidFill>
                <a:latin typeface="Calibri"/>
                <a:cs typeface="Calibri"/>
              </a:rPr>
              <a:t>methods</a:t>
            </a:r>
            <a:r>
              <a:rPr sz="2450" spc="-10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sz="2450" spc="-85" dirty="0" smtClean="0">
                <a:solidFill>
                  <a:srgbClr val="FFC000"/>
                </a:solidFill>
                <a:latin typeface="Calibri"/>
                <a:cs typeface="Calibri"/>
              </a:rPr>
              <a:t> to report onsite hazards.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22860" marR="501650" indent="-7620">
              <a:lnSpc>
                <a:spcPct val="122000"/>
              </a:lnSpc>
              <a:spcBef>
                <a:spcPts val="2470"/>
              </a:spcBef>
            </a:pP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Critical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Delays: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Inefficient</a:t>
            </a:r>
            <a:r>
              <a:rPr sz="2450" spc="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response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times</a:t>
            </a:r>
            <a:r>
              <a:rPr sz="2450" spc="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450" spc="-2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emergencies</a:t>
            </a:r>
            <a:r>
              <a:rPr sz="2450" spc="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can </a:t>
            </a:r>
            <a:r>
              <a:rPr sz="2450" spc="-70" dirty="0">
                <a:solidFill>
                  <a:srgbClr val="FFC000"/>
                </a:solidFill>
                <a:latin typeface="Calibri"/>
                <a:cs typeface="Calibri"/>
              </a:rPr>
              <a:t>lead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450" spc="-1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severe</a:t>
            </a:r>
            <a:r>
              <a:rPr sz="2450" spc="-10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accidents.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22860" marR="146050" indent="-10795">
              <a:lnSpc>
                <a:spcPct val="117800"/>
              </a:lnSpc>
              <a:spcBef>
                <a:spcPts val="2600"/>
              </a:spcBef>
            </a:pPr>
            <a:r>
              <a:rPr sz="2450" spc="60" dirty="0">
                <a:solidFill>
                  <a:srgbClr val="FFC000"/>
                </a:solidFill>
                <a:latin typeface="Calibri"/>
                <a:cs typeface="Calibri"/>
              </a:rPr>
              <a:t>Lack</a:t>
            </a:r>
            <a:r>
              <a:rPr sz="2450" spc="-1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 smtClean="0">
                <a:solidFill>
                  <a:srgbClr val="FFC000"/>
                </a:solidFill>
                <a:latin typeface="Calibri"/>
                <a:cs typeface="Calibri"/>
              </a:rPr>
              <a:t>of</a:t>
            </a:r>
            <a:r>
              <a:rPr lang="en-US" sz="2450" spc="-190" dirty="0" smtClean="0">
                <a:solidFill>
                  <a:srgbClr val="FFC000"/>
                </a:solidFill>
                <a:latin typeface="Calibri"/>
                <a:cs typeface="Calibri"/>
              </a:rPr>
              <a:t>  </a:t>
            </a:r>
            <a:r>
              <a:rPr sz="2450" dirty="0" smtClean="0">
                <a:solidFill>
                  <a:srgbClr val="FFC000"/>
                </a:solidFill>
                <a:latin typeface="Calibri"/>
                <a:cs typeface="Calibri"/>
              </a:rPr>
              <a:t>Visibility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: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 Supervisors</a:t>
            </a:r>
            <a:r>
              <a:rPr sz="2450" spc="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lack</a:t>
            </a:r>
            <a:r>
              <a:rPr sz="2450" spc="-1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real-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time</a:t>
            </a:r>
            <a:r>
              <a:rPr sz="2450" spc="-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insights</a:t>
            </a:r>
            <a:r>
              <a:rPr sz="2450" spc="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into</a:t>
            </a:r>
            <a:r>
              <a:rPr sz="2450" spc="-1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worker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locations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site</a:t>
            </a:r>
            <a:r>
              <a:rPr sz="2450" spc="-2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conditions.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24765" marR="124460" indent="-4445">
              <a:lnSpc>
                <a:spcPct val="122000"/>
              </a:lnSpc>
              <a:spcBef>
                <a:spcPts val="2470"/>
              </a:spcBef>
            </a:pP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Reactive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Reporting:</a:t>
            </a:r>
            <a:r>
              <a:rPr sz="2450" spc="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Incident</a:t>
            </a:r>
            <a:r>
              <a:rPr sz="2450" spc="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reports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often</a:t>
            </a:r>
            <a:r>
              <a:rPr sz="2450" spc="-1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occur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after</a:t>
            </a:r>
            <a:r>
              <a:rPr sz="2450" spc="-1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90" dirty="0">
                <a:solidFill>
                  <a:srgbClr val="FFC000"/>
                </a:solidFill>
                <a:latin typeface="Calibri"/>
                <a:cs typeface="Calibri"/>
              </a:rPr>
              <a:t>damage</a:t>
            </a:r>
            <a:r>
              <a:rPr sz="2450" spc="-1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is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already</a:t>
            </a:r>
            <a:r>
              <a:rPr sz="2450" spc="-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done.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1850" y="6188075"/>
            <a:ext cx="7221022" cy="46408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0260" y="1006475"/>
            <a:ext cx="7221022" cy="46408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4662"/>
            <a:ext cx="20104100" cy="57199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7050" y="930275"/>
            <a:ext cx="11953127" cy="1049997"/>
          </a:xfrm>
          <a:prstGeom prst="rect">
            <a:avLst/>
          </a:prstGeom>
        </p:spPr>
        <p:txBody>
          <a:bodyPr vert="horz" wrap="square" lIns="0" tIns="216882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</a:pPr>
            <a:r>
              <a:rPr sz="5400" spc="160" dirty="0" smtClean="0">
                <a:solidFill>
                  <a:schemeClr val="tx1"/>
                </a:solidFill>
                <a:latin typeface="Calibri"/>
                <a:cs typeface="Calibri"/>
              </a:rPr>
              <a:t>S</a:t>
            </a:r>
            <a:r>
              <a:rPr lang="en-US" sz="5400" spc="160" dirty="0" smtClean="0">
                <a:solidFill>
                  <a:schemeClr val="tx1"/>
                </a:solidFill>
                <a:latin typeface="Calibri"/>
                <a:cs typeface="Calibri"/>
              </a:rPr>
              <a:t>olution </a:t>
            </a:r>
            <a:r>
              <a:rPr lang="en-US" sz="5400" spc="160" dirty="0" smtClean="0">
                <a:solidFill>
                  <a:srgbClr val="FFC000"/>
                </a:solidFill>
                <a:latin typeface="Calibri"/>
                <a:cs typeface="Calibri"/>
              </a:rPr>
              <a:t>MineShield</a:t>
            </a:r>
            <a:endParaRPr sz="540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8909050" y="4174862"/>
            <a:ext cx="8328025" cy="4342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Modern</a:t>
            </a:r>
            <a:r>
              <a:rPr spc="-16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pc="185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Safety</a:t>
            </a:r>
            <a:r>
              <a:rPr spc="-85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pc="18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</a:t>
            </a:r>
            <a:r>
              <a:rPr spc="7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pc="135" dirty="0">
                <a:solidFill>
                  <a:schemeClr val="tx1">
                    <a:lumMod val="95000"/>
                    <a:lumOff val="5000"/>
                  </a:schemeClr>
                </a:solidFill>
              </a:rPr>
              <a:t>Your</a:t>
            </a:r>
            <a:r>
              <a:rPr spc="-1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pc="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Fingertips</a:t>
            </a:r>
          </a:p>
          <a:p>
            <a:pPr marL="17780" marR="5080" indent="4445">
              <a:lnSpc>
                <a:spcPct val="119900"/>
              </a:lnSpc>
              <a:spcBef>
                <a:spcPts val="2235"/>
              </a:spcBef>
            </a:pPr>
            <a:r>
              <a:rPr sz="2450" spc="-30" dirty="0">
                <a:solidFill>
                  <a:srgbClr val="FFC000"/>
                </a:solidFill>
              </a:rPr>
              <a:t>MineShield</a:t>
            </a:r>
            <a:r>
              <a:rPr sz="2450" spc="-120" dirty="0">
                <a:solidFill>
                  <a:srgbClr val="FFC000"/>
                </a:solidFill>
              </a:rPr>
              <a:t> </a:t>
            </a:r>
            <a:r>
              <a:rPr sz="2450" spc="-75" dirty="0">
                <a:solidFill>
                  <a:srgbClr val="FFC000"/>
                </a:solidFill>
              </a:rPr>
              <a:t>leverages</a:t>
            </a:r>
            <a:r>
              <a:rPr sz="2450" spc="-20" dirty="0">
                <a:solidFill>
                  <a:srgbClr val="FFC000"/>
                </a:solidFill>
              </a:rPr>
              <a:t> </a:t>
            </a:r>
            <a:r>
              <a:rPr sz="2450" spc="-55" dirty="0">
                <a:solidFill>
                  <a:srgbClr val="FFC000"/>
                </a:solidFill>
              </a:rPr>
              <a:t>smartphone</a:t>
            </a:r>
            <a:r>
              <a:rPr sz="2450" spc="5" dirty="0">
                <a:solidFill>
                  <a:srgbClr val="FFC000"/>
                </a:solidFill>
              </a:rPr>
              <a:t> </a:t>
            </a:r>
            <a:r>
              <a:rPr sz="2450" spc="-20" dirty="0">
                <a:solidFill>
                  <a:srgbClr val="FFC000"/>
                </a:solidFill>
              </a:rPr>
              <a:t>sensors</a:t>
            </a:r>
            <a:r>
              <a:rPr sz="2450" spc="-85" dirty="0">
                <a:solidFill>
                  <a:srgbClr val="FFC000"/>
                </a:solidFill>
              </a:rPr>
              <a:t> and</a:t>
            </a:r>
            <a:r>
              <a:rPr sz="2450" spc="-215" dirty="0">
                <a:solidFill>
                  <a:srgbClr val="FFC000"/>
                </a:solidFill>
              </a:rPr>
              <a:t> </a:t>
            </a:r>
            <a:r>
              <a:rPr sz="2450" spc="-20" dirty="0">
                <a:solidFill>
                  <a:srgbClr val="FFC000"/>
                </a:solidFill>
              </a:rPr>
              <a:t>cloud</a:t>
            </a:r>
            <a:r>
              <a:rPr sz="2450" spc="-130" dirty="0">
                <a:solidFill>
                  <a:srgbClr val="FFC000"/>
                </a:solidFill>
              </a:rPr>
              <a:t> </a:t>
            </a:r>
            <a:r>
              <a:rPr sz="2450" spc="-25" dirty="0">
                <a:solidFill>
                  <a:srgbClr val="FFC000"/>
                </a:solidFill>
              </a:rPr>
              <a:t>technology</a:t>
            </a:r>
            <a:r>
              <a:rPr sz="2450" spc="10" dirty="0">
                <a:solidFill>
                  <a:srgbClr val="FFC000"/>
                </a:solidFill>
              </a:rPr>
              <a:t> </a:t>
            </a:r>
            <a:r>
              <a:rPr sz="2450" spc="-25" dirty="0">
                <a:solidFill>
                  <a:srgbClr val="FFC000"/>
                </a:solidFill>
              </a:rPr>
              <a:t>for </a:t>
            </a:r>
            <a:r>
              <a:rPr sz="2450" spc="-40" dirty="0">
                <a:solidFill>
                  <a:srgbClr val="FFC000"/>
                </a:solidFill>
              </a:rPr>
              <a:t>real-</a:t>
            </a:r>
            <a:r>
              <a:rPr sz="2450" spc="-45" dirty="0">
                <a:solidFill>
                  <a:srgbClr val="FFC000"/>
                </a:solidFill>
              </a:rPr>
              <a:t>time</a:t>
            </a:r>
            <a:r>
              <a:rPr sz="2450" spc="-170" dirty="0">
                <a:solidFill>
                  <a:srgbClr val="FFC000"/>
                </a:solidFill>
              </a:rPr>
              <a:t> </a:t>
            </a:r>
            <a:r>
              <a:rPr sz="2450" spc="-55" dirty="0">
                <a:solidFill>
                  <a:srgbClr val="FFC000"/>
                </a:solidFill>
              </a:rPr>
              <a:t>hazard</a:t>
            </a:r>
            <a:r>
              <a:rPr sz="2450" spc="-120" dirty="0">
                <a:solidFill>
                  <a:srgbClr val="FFC000"/>
                </a:solidFill>
              </a:rPr>
              <a:t> </a:t>
            </a:r>
            <a:r>
              <a:rPr sz="2450" spc="-65" dirty="0">
                <a:solidFill>
                  <a:srgbClr val="FFC000"/>
                </a:solidFill>
              </a:rPr>
              <a:t>detection.</a:t>
            </a:r>
            <a:r>
              <a:rPr sz="2450" spc="15" dirty="0">
                <a:solidFill>
                  <a:srgbClr val="FFC000"/>
                </a:solidFill>
              </a:rPr>
              <a:t> </a:t>
            </a:r>
            <a:r>
              <a:rPr sz="2450" spc="-35" dirty="0">
                <a:solidFill>
                  <a:srgbClr val="FFC000"/>
                </a:solidFill>
              </a:rPr>
              <a:t>Accessible</a:t>
            </a:r>
            <a:r>
              <a:rPr sz="2450" spc="-145" dirty="0">
                <a:solidFill>
                  <a:srgbClr val="FFC000"/>
                </a:solidFill>
              </a:rPr>
              <a:t> </a:t>
            </a:r>
            <a:r>
              <a:rPr sz="2450" spc="-55" dirty="0">
                <a:solidFill>
                  <a:srgbClr val="FFC000"/>
                </a:solidFill>
              </a:rPr>
              <a:t>from</a:t>
            </a:r>
            <a:r>
              <a:rPr sz="2450" spc="-85" dirty="0">
                <a:solidFill>
                  <a:srgbClr val="FFC000"/>
                </a:solidFill>
              </a:rPr>
              <a:t> </a:t>
            </a:r>
            <a:r>
              <a:rPr sz="2450" spc="-70" dirty="0">
                <a:solidFill>
                  <a:srgbClr val="FFC000"/>
                </a:solidFill>
              </a:rPr>
              <a:t>any</a:t>
            </a:r>
            <a:r>
              <a:rPr sz="2450" spc="-165" dirty="0">
                <a:solidFill>
                  <a:srgbClr val="FFC000"/>
                </a:solidFill>
              </a:rPr>
              <a:t> </a:t>
            </a:r>
            <a:r>
              <a:rPr sz="2450" spc="-25" dirty="0">
                <a:solidFill>
                  <a:srgbClr val="FFC000"/>
                </a:solidFill>
              </a:rPr>
              <a:t>Android</a:t>
            </a:r>
            <a:r>
              <a:rPr sz="2450" spc="-135" dirty="0">
                <a:solidFill>
                  <a:srgbClr val="FFC000"/>
                </a:solidFill>
              </a:rPr>
              <a:t> </a:t>
            </a:r>
            <a:r>
              <a:rPr sz="2450" spc="-80" dirty="0">
                <a:solidFill>
                  <a:srgbClr val="FFC000"/>
                </a:solidFill>
              </a:rPr>
              <a:t>device,</a:t>
            </a:r>
            <a:r>
              <a:rPr sz="2450" spc="20" dirty="0">
                <a:solidFill>
                  <a:srgbClr val="FFC000"/>
                </a:solidFill>
              </a:rPr>
              <a:t> </a:t>
            </a:r>
            <a:r>
              <a:rPr sz="2450" spc="-25" dirty="0">
                <a:solidFill>
                  <a:srgbClr val="FFC000"/>
                </a:solidFill>
              </a:rPr>
              <a:t>the </a:t>
            </a:r>
            <a:r>
              <a:rPr sz="2450" spc="-45" dirty="0">
                <a:solidFill>
                  <a:srgbClr val="FFC000"/>
                </a:solidFill>
              </a:rPr>
              <a:t>system</a:t>
            </a:r>
            <a:r>
              <a:rPr sz="2450" spc="-120" dirty="0">
                <a:solidFill>
                  <a:srgbClr val="FFC000"/>
                </a:solidFill>
              </a:rPr>
              <a:t> </a:t>
            </a:r>
            <a:r>
              <a:rPr sz="2450" spc="-10" dirty="0">
                <a:solidFill>
                  <a:srgbClr val="FFC000"/>
                </a:solidFill>
              </a:rPr>
              <a:t>provides:</a:t>
            </a:r>
            <a:endParaRPr sz="2450" dirty="0">
              <a:solidFill>
                <a:srgbClr val="FFC000"/>
              </a:solidFill>
            </a:endParaRPr>
          </a:p>
          <a:p>
            <a:pPr marL="16510">
              <a:lnSpc>
                <a:spcPct val="100000"/>
              </a:lnSpc>
              <a:spcBef>
                <a:spcPts val="2875"/>
              </a:spcBef>
              <a:tabLst>
                <a:tab pos="659130" algn="l"/>
              </a:tabLst>
            </a:pPr>
            <a:r>
              <a:rPr sz="2450" dirty="0">
                <a:solidFill>
                  <a:srgbClr val="FFC000"/>
                </a:solidFill>
              </a:rPr>
              <a:t>	</a:t>
            </a:r>
            <a:r>
              <a:rPr sz="2450" spc="-30" dirty="0">
                <a:solidFill>
                  <a:srgbClr val="FFC000"/>
                </a:solidFill>
              </a:rPr>
              <a:t>Instant</a:t>
            </a:r>
            <a:r>
              <a:rPr sz="2450" spc="-85" dirty="0">
                <a:solidFill>
                  <a:srgbClr val="FFC000"/>
                </a:solidFill>
              </a:rPr>
              <a:t> </a:t>
            </a:r>
            <a:r>
              <a:rPr sz="2450" spc="-45" dirty="0">
                <a:solidFill>
                  <a:srgbClr val="FFC000"/>
                </a:solidFill>
              </a:rPr>
              <a:t>reporting</a:t>
            </a:r>
            <a:r>
              <a:rPr sz="2450" spc="-135" dirty="0">
                <a:solidFill>
                  <a:srgbClr val="FFC000"/>
                </a:solidFill>
              </a:rPr>
              <a:t> </a:t>
            </a:r>
            <a:r>
              <a:rPr sz="2450" dirty="0">
                <a:solidFill>
                  <a:srgbClr val="FFC000"/>
                </a:solidFill>
              </a:rPr>
              <a:t>with</a:t>
            </a:r>
            <a:r>
              <a:rPr sz="2450" spc="-204" dirty="0">
                <a:solidFill>
                  <a:srgbClr val="FFC000"/>
                </a:solidFill>
              </a:rPr>
              <a:t> </a:t>
            </a:r>
            <a:r>
              <a:rPr sz="2450" spc="-45" dirty="0">
                <a:solidFill>
                  <a:srgbClr val="FFC000"/>
                </a:solidFill>
              </a:rPr>
              <a:t>high-</a:t>
            </a:r>
            <a:r>
              <a:rPr sz="2450" spc="-20" dirty="0">
                <a:solidFill>
                  <a:srgbClr val="FFC000"/>
                </a:solidFill>
              </a:rPr>
              <a:t>quality</a:t>
            </a:r>
            <a:r>
              <a:rPr sz="2450" spc="50" dirty="0">
                <a:solidFill>
                  <a:srgbClr val="FFC000"/>
                </a:solidFill>
              </a:rPr>
              <a:t> </a:t>
            </a:r>
            <a:r>
              <a:rPr sz="2450" spc="-70" dirty="0">
                <a:solidFill>
                  <a:srgbClr val="FFC000"/>
                </a:solidFill>
              </a:rPr>
              <a:t>image</a:t>
            </a:r>
            <a:r>
              <a:rPr sz="2450" spc="-185" dirty="0">
                <a:solidFill>
                  <a:srgbClr val="FFC000"/>
                </a:solidFill>
              </a:rPr>
              <a:t> </a:t>
            </a:r>
            <a:r>
              <a:rPr sz="2450" spc="-10" dirty="0">
                <a:solidFill>
                  <a:srgbClr val="FFC000"/>
                </a:solidFill>
              </a:rPr>
              <a:t>uploads.</a:t>
            </a:r>
            <a:endParaRPr sz="2450" dirty="0">
              <a:solidFill>
                <a:srgbClr val="FFC000"/>
              </a:solidFill>
            </a:endParaRPr>
          </a:p>
          <a:p>
            <a:pPr marL="16510" marR="1022985">
              <a:lnSpc>
                <a:spcPct val="206100"/>
              </a:lnSpc>
              <a:tabLst>
                <a:tab pos="648335" algn="l"/>
              </a:tabLst>
            </a:pPr>
            <a:r>
              <a:rPr sz="2450" dirty="0">
                <a:solidFill>
                  <a:srgbClr val="FFC000"/>
                </a:solidFill>
              </a:rPr>
              <a:t>	</a:t>
            </a:r>
            <a:r>
              <a:rPr sz="2450" spc="-50" dirty="0">
                <a:solidFill>
                  <a:srgbClr val="FFC000"/>
                </a:solidFill>
              </a:rPr>
              <a:t>Automated</a:t>
            </a:r>
            <a:r>
              <a:rPr sz="2450" spc="-35" dirty="0">
                <a:solidFill>
                  <a:srgbClr val="FFC000"/>
                </a:solidFill>
              </a:rPr>
              <a:t> </a:t>
            </a:r>
            <a:r>
              <a:rPr sz="2450" spc="-50" dirty="0">
                <a:solidFill>
                  <a:srgbClr val="FFC000"/>
                </a:solidFill>
              </a:rPr>
              <a:t>alerts</a:t>
            </a:r>
            <a:r>
              <a:rPr sz="2450" spc="-85" dirty="0">
                <a:solidFill>
                  <a:srgbClr val="FFC000"/>
                </a:solidFill>
              </a:rPr>
              <a:t> </a:t>
            </a:r>
            <a:r>
              <a:rPr sz="2450" spc="-20" dirty="0">
                <a:solidFill>
                  <a:srgbClr val="FFC000"/>
                </a:solidFill>
              </a:rPr>
              <a:t>for</a:t>
            </a:r>
            <a:r>
              <a:rPr sz="2450" spc="-195" dirty="0">
                <a:solidFill>
                  <a:srgbClr val="FFC000"/>
                </a:solidFill>
              </a:rPr>
              <a:t> </a:t>
            </a:r>
            <a:r>
              <a:rPr sz="2450" spc="-20" dirty="0">
                <a:solidFill>
                  <a:srgbClr val="FFC000"/>
                </a:solidFill>
              </a:rPr>
              <a:t>fall</a:t>
            </a:r>
            <a:r>
              <a:rPr sz="2450" spc="-105" dirty="0">
                <a:solidFill>
                  <a:srgbClr val="FFC000"/>
                </a:solidFill>
              </a:rPr>
              <a:t> </a:t>
            </a:r>
            <a:r>
              <a:rPr sz="2450" spc="-50" dirty="0">
                <a:solidFill>
                  <a:srgbClr val="FFC000"/>
                </a:solidFill>
              </a:rPr>
              <a:t>detection</a:t>
            </a:r>
            <a:r>
              <a:rPr sz="2450" spc="15" dirty="0">
                <a:solidFill>
                  <a:srgbClr val="FFC000"/>
                </a:solidFill>
              </a:rPr>
              <a:t> </a:t>
            </a:r>
            <a:r>
              <a:rPr sz="2450" spc="-85" dirty="0">
                <a:solidFill>
                  <a:srgbClr val="FFC000"/>
                </a:solidFill>
              </a:rPr>
              <a:t>and</a:t>
            </a:r>
            <a:r>
              <a:rPr sz="2450" spc="-220" dirty="0">
                <a:solidFill>
                  <a:srgbClr val="FFC000"/>
                </a:solidFill>
              </a:rPr>
              <a:t> </a:t>
            </a:r>
            <a:r>
              <a:rPr sz="2450" spc="-35" dirty="0">
                <a:solidFill>
                  <a:srgbClr val="FFC000"/>
                </a:solidFill>
              </a:rPr>
              <a:t>noise</a:t>
            </a:r>
            <a:r>
              <a:rPr sz="2450" spc="-229" dirty="0">
                <a:solidFill>
                  <a:srgbClr val="FFC000"/>
                </a:solidFill>
              </a:rPr>
              <a:t> </a:t>
            </a:r>
            <a:r>
              <a:rPr sz="2450" spc="-25" dirty="0">
                <a:solidFill>
                  <a:srgbClr val="FFC000"/>
                </a:solidFill>
              </a:rPr>
              <a:t>exposure. </a:t>
            </a:r>
            <a:r>
              <a:rPr sz="2450" dirty="0">
                <a:solidFill>
                  <a:srgbClr val="FFC000"/>
                </a:solidFill>
              </a:rPr>
              <a:t>	</a:t>
            </a:r>
            <a:r>
              <a:rPr sz="2450" spc="-545" dirty="0">
                <a:solidFill>
                  <a:srgbClr val="FFC000"/>
                </a:solidFill>
              </a:rPr>
              <a:t> </a:t>
            </a:r>
            <a:r>
              <a:rPr sz="2450" dirty="0">
                <a:solidFill>
                  <a:srgbClr val="FFC000"/>
                </a:solidFill>
              </a:rPr>
              <a:t>Live</a:t>
            </a:r>
            <a:r>
              <a:rPr sz="2450" spc="-200" dirty="0">
                <a:solidFill>
                  <a:srgbClr val="FFC000"/>
                </a:solidFill>
              </a:rPr>
              <a:t> </a:t>
            </a:r>
            <a:r>
              <a:rPr sz="2450" spc="-45" dirty="0">
                <a:solidFill>
                  <a:srgbClr val="FFC000"/>
                </a:solidFill>
              </a:rPr>
              <a:t>supervisor</a:t>
            </a:r>
            <a:r>
              <a:rPr sz="2450" spc="-30" dirty="0">
                <a:solidFill>
                  <a:srgbClr val="FFC000"/>
                </a:solidFill>
              </a:rPr>
              <a:t> </a:t>
            </a:r>
            <a:r>
              <a:rPr sz="2450" spc="-60" dirty="0">
                <a:solidFill>
                  <a:srgbClr val="FFC000"/>
                </a:solidFill>
              </a:rPr>
              <a:t>dashboards</a:t>
            </a:r>
            <a:r>
              <a:rPr sz="2450" spc="-10" dirty="0">
                <a:solidFill>
                  <a:srgbClr val="FFC000"/>
                </a:solidFill>
              </a:rPr>
              <a:t> </a:t>
            </a:r>
            <a:r>
              <a:rPr sz="2450" dirty="0">
                <a:solidFill>
                  <a:srgbClr val="FFC000"/>
                </a:solidFill>
              </a:rPr>
              <a:t>with</a:t>
            </a:r>
            <a:r>
              <a:rPr sz="2450" spc="-145" dirty="0">
                <a:solidFill>
                  <a:srgbClr val="FFC000"/>
                </a:solidFill>
              </a:rPr>
              <a:t> </a:t>
            </a:r>
            <a:r>
              <a:rPr sz="2450" spc="-90" dirty="0">
                <a:solidFill>
                  <a:srgbClr val="FFC000"/>
                </a:solidFill>
              </a:rPr>
              <a:t>advanced</a:t>
            </a:r>
            <a:r>
              <a:rPr sz="2450" spc="5" dirty="0">
                <a:solidFill>
                  <a:srgbClr val="FFC000"/>
                </a:solidFill>
              </a:rPr>
              <a:t> </a:t>
            </a:r>
            <a:r>
              <a:rPr sz="2450" spc="-10" dirty="0">
                <a:solidFill>
                  <a:srgbClr val="FFC000"/>
                </a:solidFill>
              </a:rPr>
              <a:t>analytics</a:t>
            </a:r>
            <a:r>
              <a:rPr sz="2450" spc="-10" dirty="0">
                <a:solidFill>
                  <a:srgbClr val="4B4B4B"/>
                </a:solidFill>
              </a:rPr>
              <a:t>.</a:t>
            </a:r>
            <a:endParaRPr sz="24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050" y="4112174"/>
            <a:ext cx="3352800" cy="41333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702" y="824970"/>
            <a:ext cx="10733927" cy="102335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0"/>
              </a:spcBef>
            </a:pPr>
            <a:r>
              <a:rPr sz="6550" spc="245" dirty="0">
                <a:solidFill>
                  <a:srgbClr val="072642"/>
                </a:solidFill>
                <a:latin typeface="Calibri"/>
                <a:cs typeface="Calibri"/>
              </a:rPr>
              <a:t>System</a:t>
            </a:r>
            <a:r>
              <a:rPr sz="6550" spc="-135" dirty="0">
                <a:solidFill>
                  <a:srgbClr val="072642"/>
                </a:solidFill>
                <a:latin typeface="Calibri"/>
                <a:cs typeface="Calibri"/>
              </a:rPr>
              <a:t> </a:t>
            </a:r>
            <a:r>
              <a:rPr sz="6550" spc="95" dirty="0">
                <a:solidFill>
                  <a:srgbClr val="FFC000"/>
                </a:solidFill>
                <a:latin typeface="Calibri"/>
                <a:cs typeface="Calibri"/>
              </a:rPr>
              <a:t>Architecture</a:t>
            </a:r>
            <a:endParaRPr sz="65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3018" y="7077934"/>
            <a:ext cx="436689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125" dirty="0">
                <a:solidFill>
                  <a:srgbClr val="002450"/>
                </a:solidFill>
                <a:latin typeface="Calibri"/>
                <a:cs typeface="Calibri"/>
              </a:rPr>
              <a:t>React</a:t>
            </a:r>
            <a:r>
              <a:rPr sz="3600" spc="-140" dirty="0">
                <a:solidFill>
                  <a:srgbClr val="002450"/>
                </a:solidFill>
                <a:latin typeface="Calibri"/>
                <a:cs typeface="Calibri"/>
              </a:rPr>
              <a:t> </a:t>
            </a:r>
            <a:r>
              <a:rPr sz="3600" spc="120" dirty="0">
                <a:solidFill>
                  <a:srgbClr val="0F233F"/>
                </a:solidFill>
                <a:latin typeface="Calibri"/>
                <a:cs typeface="Calibri"/>
              </a:rPr>
              <a:t>Native</a:t>
            </a:r>
            <a:r>
              <a:rPr sz="3600" spc="-315" dirty="0">
                <a:solidFill>
                  <a:srgbClr val="0F233F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0A2641"/>
                </a:solidFill>
                <a:latin typeface="Calibri"/>
                <a:cs typeface="Calibri"/>
              </a:rPr>
              <a:t>Frontend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0787" y="7873271"/>
            <a:ext cx="4491355" cy="1391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255">
              <a:lnSpc>
                <a:spcPct val="122000"/>
              </a:lnSpc>
              <a:spcBef>
                <a:spcPts val="100"/>
              </a:spcBef>
            </a:pP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Cross-platform</a:t>
            </a:r>
            <a:r>
              <a:rPr sz="2450" spc="-2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mobile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application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providing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</a:t>
            </a:r>
            <a:r>
              <a:rPr sz="2450" spc="-2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intuitive</a:t>
            </a:r>
            <a:r>
              <a:rPr sz="2450" spc="-1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50" dirty="0">
                <a:solidFill>
                  <a:srgbClr val="FFC000"/>
                </a:solidFill>
                <a:latin typeface="Calibri"/>
                <a:cs typeface="Calibri"/>
              </a:rPr>
              <a:t>UI</a:t>
            </a:r>
            <a:r>
              <a:rPr sz="2450" spc="-1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2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workers,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supervisors,</a:t>
            </a:r>
            <a:r>
              <a:rPr sz="2450" spc="-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1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safety</a:t>
            </a:r>
            <a:r>
              <a:rPr sz="2450" spc="-1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 smtClean="0">
                <a:solidFill>
                  <a:srgbClr val="FFC000"/>
                </a:solidFill>
                <a:latin typeface="Calibri"/>
                <a:cs typeface="Calibri"/>
              </a:rPr>
              <a:t>officers</a:t>
            </a:r>
            <a:r>
              <a:rPr lang="en-US" sz="2450" spc="-10" dirty="0" smtClean="0">
                <a:solidFill>
                  <a:srgbClr val="FFC000"/>
                </a:solidFill>
                <a:latin typeface="Calibri"/>
                <a:cs typeface="Calibri"/>
              </a:rPr>
              <a:t>.</a:t>
            </a:r>
            <a:r>
              <a:rPr sz="2450" spc="-10" dirty="0" smtClean="0">
                <a:solidFill>
                  <a:srgbClr val="444444"/>
                </a:solidFill>
                <a:latin typeface="Calibri"/>
                <a:cs typeface="Calibri"/>
              </a:rPr>
              <a:t>.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0577" y="7077934"/>
            <a:ext cx="347408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70" dirty="0">
                <a:solidFill>
                  <a:srgbClr val="0C1F41"/>
                </a:solidFill>
                <a:latin typeface="Calibri"/>
                <a:cs typeface="Calibri"/>
              </a:rPr>
              <a:t>Firebose</a:t>
            </a:r>
            <a:r>
              <a:rPr sz="3600" spc="-210" dirty="0">
                <a:solidFill>
                  <a:srgbClr val="0C1F41"/>
                </a:solidFill>
                <a:latin typeface="Calibri"/>
                <a:cs typeface="Calibri"/>
              </a:rPr>
              <a:t> </a:t>
            </a:r>
            <a:r>
              <a:rPr sz="3600" spc="125" dirty="0">
                <a:solidFill>
                  <a:srgbClr val="07263D"/>
                </a:solidFill>
                <a:latin typeface="Calibri"/>
                <a:cs typeface="Calibri"/>
              </a:rPr>
              <a:t>Backend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00513" y="7873271"/>
            <a:ext cx="4149090" cy="18319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3335" marR="5080" indent="-1270">
              <a:lnSpc>
                <a:spcPct val="120600"/>
              </a:lnSpc>
              <a:spcBef>
                <a:spcPts val="140"/>
              </a:spcBef>
            </a:pP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Cloud</a:t>
            </a:r>
            <a:r>
              <a:rPr sz="2450" spc="-1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infrastructure</a:t>
            </a:r>
            <a:r>
              <a:rPr sz="2450" spc="-2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1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user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authentication,</a:t>
            </a:r>
            <a:r>
              <a:rPr sz="2450" spc="-2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data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storage,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real-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time</a:t>
            </a:r>
            <a:r>
              <a:rPr sz="2450" spc="-1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alerts,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1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secure</a:t>
            </a:r>
            <a:r>
              <a:rPr sz="2450" spc="-1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role-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based 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access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control.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862050" y="7077934"/>
            <a:ext cx="407924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85" dirty="0">
                <a:solidFill>
                  <a:srgbClr val="0A2842"/>
                </a:solidFill>
                <a:latin typeface="Calibri"/>
                <a:cs typeface="Calibri"/>
              </a:rPr>
              <a:t>Smartphone</a:t>
            </a:r>
            <a:r>
              <a:rPr sz="3600" spc="100" dirty="0">
                <a:solidFill>
                  <a:srgbClr val="0A2842"/>
                </a:solidFill>
                <a:latin typeface="Calibri"/>
                <a:cs typeface="Calibri"/>
              </a:rPr>
              <a:t> </a:t>
            </a:r>
            <a:r>
              <a:rPr sz="3600" spc="80" dirty="0">
                <a:solidFill>
                  <a:srgbClr val="1C1C1C"/>
                </a:solidFill>
                <a:latin typeface="Calibri"/>
                <a:cs typeface="Calibri"/>
              </a:rPr>
              <a:t>Sensors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62050" y="7873271"/>
            <a:ext cx="4475480" cy="1391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">
              <a:lnSpc>
                <a:spcPct val="122000"/>
              </a:lnSpc>
              <a:spcBef>
                <a:spcPts val="100"/>
              </a:spcBef>
            </a:pP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Utilizing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built-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in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 accelerometers</a:t>
            </a:r>
            <a:r>
              <a:rPr sz="2450" spc="-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and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microphones</a:t>
            </a:r>
            <a:r>
              <a:rPr sz="2450" spc="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1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automatic</a:t>
            </a:r>
            <a:r>
              <a:rPr sz="2450" spc="-1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fall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detection</a:t>
            </a:r>
            <a:r>
              <a:rPr sz="245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2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noise</a:t>
            </a:r>
            <a:r>
              <a:rPr sz="2450" spc="-2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monitoring.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250" y="4130675"/>
            <a:ext cx="2743200" cy="2590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019" y="4130675"/>
            <a:ext cx="2743200" cy="259079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9250" y="4130675"/>
            <a:ext cx="2743200" cy="25907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3973700"/>
            <a:ext cx="4319240" cy="31412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5746" y="3973700"/>
            <a:ext cx="4319240" cy="3141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09113" y="3973700"/>
            <a:ext cx="4319240" cy="3141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42480" y="3973700"/>
            <a:ext cx="4319240" cy="314126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95702" y="824970"/>
            <a:ext cx="10733927" cy="1045091"/>
          </a:xfrm>
          <a:prstGeom prst="rect">
            <a:avLst/>
          </a:prstGeom>
        </p:spPr>
        <p:txBody>
          <a:bodyPr vert="horz" wrap="square" lIns="0" tIns="52004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90"/>
              </a:spcBef>
            </a:pPr>
            <a:r>
              <a:rPr sz="6450" spc="185" dirty="0">
                <a:solidFill>
                  <a:srgbClr val="072642"/>
                </a:solidFill>
                <a:latin typeface="Calibri"/>
                <a:cs typeface="Calibri"/>
              </a:rPr>
              <a:t>Target</a:t>
            </a:r>
            <a:r>
              <a:rPr sz="6450" spc="-380" dirty="0">
                <a:solidFill>
                  <a:srgbClr val="072642"/>
                </a:solidFill>
                <a:latin typeface="Calibri"/>
                <a:cs typeface="Calibri"/>
              </a:rPr>
              <a:t> </a:t>
            </a:r>
            <a:r>
              <a:rPr sz="6450" spc="160" dirty="0" smtClean="0">
                <a:solidFill>
                  <a:srgbClr val="FFC000"/>
                </a:solidFill>
                <a:latin typeface="Calibri"/>
                <a:cs typeface="Calibri"/>
              </a:rPr>
              <a:t>Users</a:t>
            </a:r>
            <a:endParaRPr sz="6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4779" y="7396760"/>
            <a:ext cx="182435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55" dirty="0">
                <a:solidFill>
                  <a:srgbClr val="08233D"/>
                </a:solidFill>
                <a:latin typeface="Calibri"/>
                <a:cs typeface="Calibri"/>
              </a:rPr>
              <a:t>Mine</a:t>
            </a:r>
            <a:r>
              <a:rPr sz="2300" spc="-140" dirty="0">
                <a:solidFill>
                  <a:srgbClr val="08233D"/>
                </a:solidFill>
                <a:latin typeface="Calibri"/>
                <a:cs typeface="Calibri"/>
              </a:rPr>
              <a:t> </a:t>
            </a:r>
            <a:r>
              <a:rPr sz="2300" spc="75" dirty="0">
                <a:solidFill>
                  <a:srgbClr val="082B49"/>
                </a:solidFill>
                <a:latin typeface="Calibri"/>
                <a:cs typeface="Calibri"/>
              </a:rPr>
              <a:t>Workers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8901" y="7913106"/>
            <a:ext cx="3472184" cy="708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 marR="5080" indent="-2540">
              <a:lnSpc>
                <a:spcPct val="119300"/>
              </a:lnSpc>
              <a:spcBef>
                <a:spcPts val="95"/>
              </a:spcBef>
            </a:pP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Frontline</a:t>
            </a:r>
            <a:r>
              <a:rPr sz="19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staff</a:t>
            </a:r>
            <a:r>
              <a:rPr sz="1900" spc="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requiring</a:t>
            </a:r>
            <a:r>
              <a:rPr sz="190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C000"/>
                </a:solidFill>
                <a:latin typeface="Calibri"/>
                <a:cs typeface="Calibri"/>
              </a:rPr>
              <a:t>real-time hazard</a:t>
            </a:r>
            <a:r>
              <a:rPr sz="1900" spc="-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C000"/>
                </a:solidFill>
                <a:latin typeface="Calibri"/>
                <a:cs typeface="Calibri"/>
              </a:rPr>
              <a:t>alerts</a:t>
            </a:r>
            <a:r>
              <a:rPr sz="190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1900" spc="-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SOS</a:t>
            </a:r>
            <a:r>
              <a:rPr sz="1900" spc="-1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10" dirty="0" smtClean="0">
                <a:solidFill>
                  <a:srgbClr val="FFC000"/>
                </a:solidFill>
                <a:latin typeface="Calibri"/>
                <a:cs typeface="Calibri"/>
              </a:rPr>
              <a:t>capabilities</a:t>
            </a:r>
            <a:r>
              <a:rPr lang="en-US" sz="1900" spc="-10" dirty="0" smtClean="0">
                <a:solidFill>
                  <a:srgbClr val="FFC000"/>
                </a:solidFill>
                <a:latin typeface="Calibri"/>
                <a:cs typeface="Calibri"/>
              </a:rPr>
              <a:t>.</a:t>
            </a:r>
            <a:r>
              <a:rPr sz="1900" spc="-10" dirty="0" smtClean="0">
                <a:solidFill>
                  <a:srgbClr val="414141"/>
                </a:solidFill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4815" y="7396760"/>
            <a:ext cx="157416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100" dirty="0">
                <a:solidFill>
                  <a:srgbClr val="1C3146"/>
                </a:solidFill>
                <a:latin typeface="Calibri"/>
                <a:cs typeface="Calibri"/>
              </a:rPr>
              <a:t>Supervisors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4001" y="7913106"/>
            <a:ext cx="3469406" cy="708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>
              <a:lnSpc>
                <a:spcPct val="119300"/>
              </a:lnSpc>
              <a:spcBef>
                <a:spcPts val="95"/>
              </a:spcBef>
            </a:pPr>
            <a:r>
              <a:rPr sz="1900" spc="-75" dirty="0">
                <a:solidFill>
                  <a:srgbClr val="FFC000"/>
                </a:solidFill>
                <a:latin typeface="Calibri"/>
                <a:cs typeface="Calibri"/>
              </a:rPr>
              <a:t>Team</a:t>
            </a:r>
            <a:r>
              <a:rPr sz="19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C000"/>
                </a:solidFill>
                <a:latin typeface="Calibri"/>
                <a:cs typeface="Calibri"/>
              </a:rPr>
              <a:t>leaders</a:t>
            </a:r>
            <a:r>
              <a:rPr sz="1900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monitoring</a:t>
            </a:r>
            <a:r>
              <a:rPr sz="19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C000"/>
                </a:solidFill>
                <a:latin typeface="Calibri"/>
                <a:cs typeface="Calibri"/>
              </a:rPr>
              <a:t>safety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across</a:t>
            </a:r>
            <a:r>
              <a:rPr sz="1900" spc="-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C000"/>
                </a:solidFill>
                <a:latin typeface="Calibri"/>
                <a:cs typeface="Calibri"/>
              </a:rPr>
              <a:t>assigned</a:t>
            </a:r>
            <a:r>
              <a:rPr sz="1900" spc="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C000"/>
                </a:solidFill>
                <a:latin typeface="Calibri"/>
                <a:cs typeface="Calibri"/>
              </a:rPr>
              <a:t>zones</a:t>
            </a:r>
            <a:r>
              <a:rPr sz="19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1900" spc="-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C000"/>
                </a:solidFill>
                <a:latin typeface="Calibri"/>
                <a:cs typeface="Calibri"/>
              </a:rPr>
              <a:t>alerts</a:t>
            </a:r>
            <a:r>
              <a:rPr sz="1900" spc="-10" dirty="0" smtClean="0">
                <a:solidFill>
                  <a:srgbClr val="494949"/>
                </a:solidFill>
                <a:latin typeface="Calibri"/>
                <a:cs typeface="Calibri"/>
              </a:rPr>
              <a:t>.</a:t>
            </a:r>
            <a:r>
              <a:rPr lang="en-US" sz="1900" spc="-10" dirty="0" smtClean="0">
                <a:solidFill>
                  <a:srgbClr val="494949"/>
                </a:solidFill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08184" y="7396760"/>
            <a:ext cx="2025650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190" dirty="0">
                <a:solidFill>
                  <a:srgbClr val="011A2F"/>
                </a:solidFill>
                <a:latin typeface="Calibri"/>
                <a:cs typeface="Calibri"/>
              </a:rPr>
              <a:t>Safety</a:t>
            </a:r>
            <a:r>
              <a:rPr sz="2300" spc="-160" dirty="0">
                <a:solidFill>
                  <a:srgbClr val="011A2F"/>
                </a:solidFill>
                <a:latin typeface="Calibri"/>
                <a:cs typeface="Calibri"/>
              </a:rPr>
              <a:t> </a:t>
            </a:r>
            <a:r>
              <a:rPr sz="2300" spc="110" dirty="0">
                <a:solidFill>
                  <a:srgbClr val="001628"/>
                </a:solidFill>
                <a:latin typeface="Calibri"/>
                <a:cs typeface="Calibri"/>
              </a:rPr>
              <a:t>Officers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06323" y="7913106"/>
            <a:ext cx="3472815" cy="708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 marR="5080" indent="-4445">
              <a:lnSpc>
                <a:spcPct val="119300"/>
              </a:lnSpc>
              <a:spcBef>
                <a:spcPts val="95"/>
              </a:spcBef>
            </a:pP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Analyzing</a:t>
            </a:r>
            <a:r>
              <a:rPr sz="1900" spc="-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C000"/>
                </a:solidFill>
                <a:latin typeface="Calibri"/>
                <a:cs typeface="Calibri"/>
              </a:rPr>
              <a:t>safety</a:t>
            </a:r>
            <a:r>
              <a:rPr sz="19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C000"/>
                </a:solidFill>
                <a:latin typeface="Calibri"/>
                <a:cs typeface="Calibri"/>
              </a:rPr>
              <a:t>trends</a:t>
            </a:r>
            <a:r>
              <a:rPr sz="190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C000"/>
                </a:solidFill>
                <a:latin typeface="Calibri"/>
                <a:cs typeface="Calibri"/>
              </a:rPr>
              <a:t>and implementing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C000"/>
                </a:solidFill>
                <a:latin typeface="Calibri"/>
                <a:cs typeface="Calibri"/>
              </a:rPr>
              <a:t>preventive</a:t>
            </a:r>
            <a:r>
              <a:rPr sz="190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C000"/>
                </a:solidFill>
                <a:latin typeface="Calibri"/>
                <a:cs typeface="Calibri"/>
              </a:rPr>
              <a:t>measures.</a:t>
            </a:r>
            <a:endParaRPr sz="190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139815" y="7445842"/>
            <a:ext cx="111442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229" dirty="0" smtClean="0">
                <a:solidFill>
                  <a:srgbClr val="0C2A4F"/>
                </a:solidFill>
                <a:latin typeface="Calibri"/>
                <a:cs typeface="Calibri"/>
              </a:rPr>
              <a:t>Vi</a:t>
            </a:r>
            <a:r>
              <a:rPr lang="en-US" sz="1900" spc="229" dirty="0" smtClean="0">
                <a:solidFill>
                  <a:srgbClr val="0C2A4F"/>
                </a:solidFill>
                <a:latin typeface="Calibri"/>
                <a:cs typeface="Calibri"/>
              </a:rPr>
              <a:t>sitors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42054" y="7913106"/>
            <a:ext cx="3413760" cy="708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>
              <a:lnSpc>
                <a:spcPct val="119300"/>
              </a:lnSpc>
              <a:spcBef>
                <a:spcPts val="95"/>
              </a:spcBef>
            </a:pPr>
            <a:r>
              <a:rPr sz="1900" spc="-20" dirty="0">
                <a:solidFill>
                  <a:srgbClr val="FFC000"/>
                </a:solidFill>
                <a:latin typeface="Calibri"/>
                <a:cs typeface="Calibri"/>
              </a:rPr>
              <a:t>Site</a:t>
            </a:r>
            <a:r>
              <a:rPr sz="1900" spc="-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visitors</a:t>
            </a:r>
            <a:r>
              <a:rPr sz="1900" spc="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requiring</a:t>
            </a:r>
            <a:r>
              <a:rPr sz="1900" spc="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C000"/>
                </a:solidFill>
                <a:latin typeface="Calibri"/>
                <a:cs typeface="Calibri"/>
              </a:rPr>
              <a:t>zone-</a:t>
            </a:r>
            <a:r>
              <a:rPr sz="1900" spc="-10" dirty="0">
                <a:solidFill>
                  <a:srgbClr val="FFC000"/>
                </a:solidFill>
                <a:latin typeface="Calibri"/>
                <a:cs typeface="Calibri"/>
              </a:rPr>
              <a:t>specific </a:t>
            </a:r>
            <a:r>
              <a:rPr sz="1900" spc="-25" dirty="0">
                <a:solidFill>
                  <a:srgbClr val="FFC000"/>
                </a:solidFill>
                <a:latin typeface="Calibri"/>
                <a:cs typeface="Calibri"/>
              </a:rPr>
              <a:t>safety</a:t>
            </a:r>
            <a:r>
              <a:rPr sz="1900" spc="-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C000"/>
                </a:solidFill>
                <a:latin typeface="Calibri"/>
                <a:cs typeface="Calibri"/>
              </a:rPr>
              <a:t>info</a:t>
            </a:r>
            <a:r>
              <a:rPr sz="19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1900" spc="-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C000"/>
                </a:solidFill>
                <a:latin typeface="Calibri"/>
                <a:cs typeface="Calibri"/>
              </a:rPr>
              <a:t>monitoring.</a:t>
            </a:r>
            <a:endParaRPr sz="190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0247" y="3471098"/>
            <a:ext cx="8261528" cy="57799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5702" y="824970"/>
            <a:ext cx="10733927" cy="102335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20"/>
              </a:spcBef>
            </a:pPr>
            <a:r>
              <a:rPr sz="6550" spc="-75" dirty="0">
                <a:solidFill>
                  <a:srgbClr val="0C233D"/>
                </a:solidFill>
              </a:rPr>
              <a:t>Functional:</a:t>
            </a:r>
            <a:r>
              <a:rPr sz="6550" spc="-720" dirty="0">
                <a:solidFill>
                  <a:srgbClr val="0C233D"/>
                </a:solidFill>
              </a:rPr>
              <a:t> </a:t>
            </a:r>
            <a:r>
              <a:rPr sz="6550" spc="-225" dirty="0">
                <a:solidFill>
                  <a:srgbClr val="FFC000"/>
                </a:solidFill>
              </a:rPr>
              <a:t>Hazard</a:t>
            </a:r>
            <a:r>
              <a:rPr sz="6550" spc="-495" dirty="0">
                <a:solidFill>
                  <a:srgbClr val="FFC000"/>
                </a:solidFill>
              </a:rPr>
              <a:t> </a:t>
            </a:r>
            <a:r>
              <a:rPr sz="6550" spc="-85" dirty="0">
                <a:solidFill>
                  <a:srgbClr val="FFC000"/>
                </a:solidFill>
              </a:rPr>
              <a:t>Reporting</a:t>
            </a:r>
            <a:endParaRPr sz="6550" dirty="0">
              <a:solidFill>
                <a:srgbClr val="FFC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9278" y="3202516"/>
            <a:ext cx="8560435" cy="5205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245" dirty="0">
                <a:solidFill>
                  <a:srgbClr val="08233D"/>
                </a:solidFill>
                <a:latin typeface="Calibri"/>
                <a:cs typeface="Calibri"/>
              </a:rPr>
              <a:t>Real-</a:t>
            </a:r>
            <a:r>
              <a:rPr sz="2450" spc="305" dirty="0">
                <a:solidFill>
                  <a:srgbClr val="08233D"/>
                </a:solidFill>
                <a:latin typeface="Calibri"/>
                <a:cs typeface="Calibri"/>
              </a:rPr>
              <a:t>Time</a:t>
            </a:r>
            <a:r>
              <a:rPr sz="2450" spc="-95" dirty="0">
                <a:solidFill>
                  <a:srgbClr val="08233D"/>
                </a:solidFill>
                <a:latin typeface="Calibri"/>
                <a:cs typeface="Calibri"/>
              </a:rPr>
              <a:t> </a:t>
            </a:r>
            <a:r>
              <a:rPr sz="2450" spc="229" dirty="0">
                <a:solidFill>
                  <a:srgbClr val="052342"/>
                </a:solidFill>
                <a:latin typeface="Calibri"/>
                <a:cs typeface="Calibri"/>
              </a:rPr>
              <a:t>Identification</a:t>
            </a:r>
            <a:endParaRPr sz="2450" dirty="0">
              <a:latin typeface="Calibri"/>
              <a:cs typeface="Calibri"/>
            </a:endParaRPr>
          </a:p>
          <a:p>
            <a:pPr marL="16510" marR="813435" indent="-3810">
              <a:lnSpc>
                <a:spcPct val="117200"/>
              </a:lnSpc>
              <a:spcBef>
                <a:spcPts val="2245"/>
              </a:spcBef>
            </a:pPr>
            <a:r>
              <a:rPr sz="2550" spc="-114" dirty="0">
                <a:solidFill>
                  <a:srgbClr val="FFC000"/>
                </a:solidFill>
                <a:latin typeface="Calibri"/>
                <a:cs typeface="Calibri"/>
              </a:rPr>
              <a:t>Workers</a:t>
            </a:r>
            <a:r>
              <a:rPr sz="25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120" dirty="0">
                <a:solidFill>
                  <a:srgbClr val="FFC000"/>
                </a:solidFill>
                <a:latin typeface="Calibri"/>
                <a:cs typeface="Calibri"/>
              </a:rPr>
              <a:t>can</a:t>
            </a:r>
            <a:r>
              <a:rPr sz="2550" spc="-1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80" dirty="0">
                <a:solidFill>
                  <a:srgbClr val="FFC000"/>
                </a:solidFill>
                <a:latin typeface="Calibri"/>
                <a:cs typeface="Calibri"/>
              </a:rPr>
              <a:t>register</a:t>
            </a:r>
            <a:r>
              <a:rPr sz="255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35" dirty="0">
                <a:solidFill>
                  <a:srgbClr val="FFC000"/>
                </a:solidFill>
                <a:latin typeface="Calibri"/>
                <a:cs typeface="Calibri"/>
              </a:rPr>
              <a:t>with</a:t>
            </a:r>
            <a:r>
              <a:rPr sz="2550" spc="-229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100" dirty="0">
                <a:solidFill>
                  <a:srgbClr val="FFC000"/>
                </a:solidFill>
                <a:latin typeface="Calibri"/>
                <a:cs typeface="Calibri"/>
              </a:rPr>
              <a:t>role-</a:t>
            </a:r>
            <a:r>
              <a:rPr sz="2550" spc="-125" dirty="0">
                <a:solidFill>
                  <a:srgbClr val="FFC000"/>
                </a:solidFill>
                <a:latin typeface="Calibri"/>
                <a:cs typeface="Calibri"/>
              </a:rPr>
              <a:t>based</a:t>
            </a:r>
            <a:r>
              <a:rPr sz="2550" spc="-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110" dirty="0">
                <a:solidFill>
                  <a:srgbClr val="FFC000"/>
                </a:solidFill>
                <a:latin typeface="Calibri"/>
                <a:cs typeface="Calibri"/>
              </a:rPr>
              <a:t>access</a:t>
            </a:r>
            <a:r>
              <a:rPr sz="25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75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550" spc="-2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145" dirty="0">
                <a:solidFill>
                  <a:srgbClr val="FFC000"/>
                </a:solidFill>
                <a:latin typeface="Calibri"/>
                <a:cs typeface="Calibri"/>
              </a:rPr>
              <a:t>document</a:t>
            </a:r>
            <a:r>
              <a:rPr sz="255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FFC000"/>
                </a:solidFill>
                <a:latin typeface="Calibri"/>
                <a:cs typeface="Calibri"/>
              </a:rPr>
              <a:t>safety </a:t>
            </a:r>
            <a:r>
              <a:rPr sz="2550" spc="-114" dirty="0">
                <a:solidFill>
                  <a:srgbClr val="FFC000"/>
                </a:solidFill>
                <a:latin typeface="Calibri"/>
                <a:cs typeface="Calibri"/>
              </a:rPr>
              <a:t>concerns</a:t>
            </a:r>
            <a:r>
              <a:rPr sz="2550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70" dirty="0">
                <a:solidFill>
                  <a:srgbClr val="FFC000"/>
                </a:solidFill>
                <a:latin typeface="Calibri"/>
                <a:cs typeface="Calibri"/>
              </a:rPr>
              <a:t>instantly.</a:t>
            </a:r>
            <a:r>
              <a:rPr sz="2550" spc="-11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50" dirty="0">
                <a:solidFill>
                  <a:srgbClr val="FFC000"/>
                </a:solidFill>
                <a:latin typeface="Calibri"/>
                <a:cs typeface="Calibri"/>
              </a:rPr>
              <a:t>Keyfeatures</a:t>
            </a:r>
            <a:r>
              <a:rPr sz="25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FFC000"/>
                </a:solidFill>
                <a:latin typeface="Calibri"/>
                <a:cs typeface="Calibri"/>
              </a:rPr>
              <a:t>include:</a:t>
            </a:r>
            <a:endParaRPr sz="25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644525" marR="508000" indent="635">
              <a:lnSpc>
                <a:spcPct val="117200"/>
              </a:lnSpc>
              <a:spcBef>
                <a:spcPts val="2105"/>
              </a:spcBef>
            </a:pPr>
            <a:r>
              <a:rPr sz="2550" spc="-20" dirty="0">
                <a:solidFill>
                  <a:srgbClr val="FFC000"/>
                </a:solidFill>
                <a:latin typeface="Calibri"/>
                <a:cs typeface="Calibri"/>
              </a:rPr>
              <a:t>Visual</a:t>
            </a:r>
            <a:r>
              <a:rPr sz="2550" spc="-2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70" dirty="0">
                <a:solidFill>
                  <a:srgbClr val="FFC000"/>
                </a:solidFill>
                <a:latin typeface="Calibri"/>
                <a:cs typeface="Calibri"/>
              </a:rPr>
              <a:t>Documentation:</a:t>
            </a:r>
            <a:r>
              <a:rPr sz="2550" spc="-2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45" dirty="0">
                <a:solidFill>
                  <a:srgbClr val="FFC000"/>
                </a:solidFill>
                <a:latin typeface="Calibri"/>
                <a:cs typeface="Calibri"/>
              </a:rPr>
              <a:t>Attach</a:t>
            </a:r>
            <a:r>
              <a:rPr sz="2550" spc="-2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95" dirty="0">
                <a:solidFill>
                  <a:srgbClr val="FFC000"/>
                </a:solidFill>
                <a:latin typeface="Calibri"/>
                <a:cs typeface="Calibri"/>
              </a:rPr>
              <a:t>high-</a:t>
            </a:r>
            <a:r>
              <a:rPr sz="2550" spc="-90" dirty="0">
                <a:solidFill>
                  <a:srgbClr val="FFC000"/>
                </a:solidFill>
                <a:latin typeface="Calibri"/>
                <a:cs typeface="Calibri"/>
              </a:rPr>
              <a:t>res</a:t>
            </a:r>
            <a:r>
              <a:rPr sz="255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120" dirty="0">
                <a:solidFill>
                  <a:srgbClr val="FFC000"/>
                </a:solidFill>
                <a:latin typeface="Calibri"/>
                <a:cs typeface="Calibri"/>
              </a:rPr>
              <a:t>images</a:t>
            </a:r>
            <a:r>
              <a:rPr sz="2550" spc="-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75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550" spc="-25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95" dirty="0">
                <a:solidFill>
                  <a:srgbClr val="FFC000"/>
                </a:solidFill>
                <a:latin typeface="Calibri"/>
                <a:cs typeface="Calibri"/>
              </a:rPr>
              <a:t>reports</a:t>
            </a:r>
            <a:r>
              <a:rPr sz="2550" spc="-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550" spc="-25" dirty="0">
                <a:solidFill>
                  <a:srgbClr val="FFC000"/>
                </a:solidFill>
                <a:latin typeface="Calibri"/>
                <a:cs typeface="Calibri"/>
              </a:rPr>
              <a:t>for </a:t>
            </a:r>
            <a:r>
              <a:rPr sz="2550" spc="-10" dirty="0">
                <a:solidFill>
                  <a:srgbClr val="FFC000"/>
                </a:solidFill>
                <a:latin typeface="Calibri"/>
                <a:cs typeface="Calibri"/>
              </a:rPr>
              <a:t>context.</a:t>
            </a:r>
            <a:endParaRPr sz="25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654685" marR="156210" indent="-11430">
              <a:lnSpc>
                <a:spcPct val="135900"/>
              </a:lnSpc>
              <a:spcBef>
                <a:spcPts val="2400"/>
              </a:spcBef>
            </a:pPr>
            <a:r>
              <a:rPr sz="2200" spc="120" dirty="0">
                <a:solidFill>
                  <a:srgbClr val="FFC000"/>
                </a:solidFill>
                <a:latin typeface="Calibri"/>
                <a:cs typeface="Calibri"/>
              </a:rPr>
              <a:t>Role-</a:t>
            </a:r>
            <a:r>
              <a:rPr sz="2200" spc="145" dirty="0">
                <a:solidFill>
                  <a:srgbClr val="FFC000"/>
                </a:solidFill>
                <a:latin typeface="Calibri"/>
                <a:cs typeface="Calibri"/>
              </a:rPr>
              <a:t>Based</a:t>
            </a:r>
            <a:r>
              <a:rPr sz="2200" spc="-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spc="150" dirty="0">
                <a:solidFill>
                  <a:srgbClr val="FFC000"/>
                </a:solidFill>
                <a:latin typeface="Calibri"/>
                <a:cs typeface="Calibri"/>
              </a:rPr>
              <a:t>Access:</a:t>
            </a:r>
            <a:r>
              <a:rPr sz="2200" spc="-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spc="60" dirty="0">
                <a:solidFill>
                  <a:srgbClr val="FFC000"/>
                </a:solidFill>
                <a:latin typeface="Calibri"/>
                <a:cs typeface="Calibri"/>
              </a:rPr>
              <a:t>Specific</a:t>
            </a:r>
            <a:r>
              <a:rPr sz="22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spc="70" dirty="0">
                <a:solidFill>
                  <a:srgbClr val="FFC000"/>
                </a:solidFill>
                <a:latin typeface="Calibri"/>
                <a:cs typeface="Calibri"/>
              </a:rPr>
              <a:t>permissions</a:t>
            </a:r>
            <a:r>
              <a:rPr sz="2200" spc="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spc="65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200" spc="-1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spc="65" dirty="0">
                <a:solidFill>
                  <a:srgbClr val="FFC000"/>
                </a:solidFill>
                <a:latin typeface="Calibri"/>
                <a:cs typeface="Calibri"/>
              </a:rPr>
              <a:t>workers</a:t>
            </a:r>
            <a:r>
              <a:rPr sz="2200" spc="-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spc="8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200" spc="-1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200" spc="75" dirty="0">
                <a:solidFill>
                  <a:srgbClr val="FFC000"/>
                </a:solidFill>
                <a:latin typeface="Calibri"/>
                <a:cs typeface="Calibri"/>
              </a:rPr>
              <a:t>safety </a:t>
            </a:r>
            <a:r>
              <a:rPr sz="2200" spc="-10" dirty="0">
                <a:solidFill>
                  <a:srgbClr val="FFC000"/>
                </a:solidFill>
                <a:latin typeface="Calibri"/>
                <a:cs typeface="Calibri"/>
              </a:rPr>
              <a:t>teams.</a:t>
            </a:r>
            <a:endParaRPr sz="220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645160" marR="5080" indent="-1270">
              <a:lnSpc>
                <a:spcPct val="117800"/>
              </a:lnSpc>
              <a:spcBef>
                <a:spcPts val="2650"/>
              </a:spcBef>
            </a:pP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Quick</a:t>
            </a:r>
            <a:r>
              <a:rPr sz="2450" spc="-1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Response: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Alerts</a:t>
            </a:r>
            <a:r>
              <a:rPr sz="2450" spc="-20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sent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instantly</a:t>
            </a:r>
            <a:r>
              <a:rPr sz="2450" spc="-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450" spc="-2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relevant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supervisors</a:t>
            </a:r>
            <a:r>
              <a:rPr sz="2450" spc="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for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action.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702" y="824970"/>
            <a:ext cx="10733927" cy="102335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20"/>
              </a:spcBef>
            </a:pPr>
            <a:r>
              <a:rPr sz="6550" spc="95" dirty="0" smtClean="0">
                <a:solidFill>
                  <a:srgbClr val="0A243F"/>
                </a:solidFill>
                <a:latin typeface="Calibri"/>
                <a:cs typeface="Calibri"/>
              </a:rPr>
              <a:t>M</a:t>
            </a:r>
            <a:r>
              <a:rPr lang="en-US" sz="6550" spc="95" dirty="0" smtClean="0">
                <a:solidFill>
                  <a:srgbClr val="0A243F"/>
                </a:solidFill>
                <a:latin typeface="Calibri"/>
                <a:cs typeface="Calibri"/>
              </a:rPr>
              <a:t>a</a:t>
            </a:r>
            <a:r>
              <a:rPr sz="6550" spc="95" dirty="0" smtClean="0">
                <a:solidFill>
                  <a:srgbClr val="0A243F"/>
                </a:solidFill>
                <a:latin typeface="Calibri"/>
                <a:cs typeface="Calibri"/>
              </a:rPr>
              <a:t>pping</a:t>
            </a:r>
            <a:r>
              <a:rPr sz="6550" spc="225" dirty="0" smtClean="0">
                <a:solidFill>
                  <a:srgbClr val="0A243F"/>
                </a:solidFill>
                <a:latin typeface="Calibri"/>
                <a:cs typeface="Calibri"/>
              </a:rPr>
              <a:t> </a:t>
            </a:r>
            <a:r>
              <a:rPr sz="6550" spc="220" dirty="0">
                <a:solidFill>
                  <a:srgbClr val="0A243F"/>
                </a:solidFill>
                <a:latin typeface="Calibri"/>
                <a:cs typeface="Calibri"/>
              </a:rPr>
              <a:t>&amp;</a:t>
            </a:r>
            <a:r>
              <a:rPr sz="6550" spc="-700" dirty="0">
                <a:solidFill>
                  <a:srgbClr val="0A243F"/>
                </a:solidFill>
                <a:latin typeface="Calibri"/>
                <a:cs typeface="Calibri"/>
              </a:rPr>
              <a:t> </a:t>
            </a:r>
            <a:r>
              <a:rPr sz="6550" spc="270" dirty="0">
                <a:solidFill>
                  <a:srgbClr val="FFC000"/>
                </a:solidFill>
                <a:latin typeface="Calibri"/>
                <a:cs typeface="Calibri"/>
              </a:rPr>
              <a:t>Fall</a:t>
            </a:r>
            <a:r>
              <a:rPr sz="6550" spc="-7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6550" spc="40" dirty="0">
                <a:solidFill>
                  <a:srgbClr val="FFC000"/>
                </a:solidFill>
                <a:latin typeface="Calibri"/>
                <a:cs typeface="Calibri"/>
              </a:rPr>
              <a:t>Detection</a:t>
            </a:r>
            <a:endParaRPr sz="65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3018" y="5144211"/>
            <a:ext cx="482219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95" dirty="0">
                <a:solidFill>
                  <a:srgbClr val="032344"/>
                </a:solidFill>
                <a:latin typeface="Calibri"/>
                <a:cs typeface="Calibri"/>
              </a:rPr>
              <a:t>Interactive</a:t>
            </a:r>
            <a:r>
              <a:rPr sz="3600" spc="-105" dirty="0">
                <a:solidFill>
                  <a:srgbClr val="032344"/>
                </a:solidFill>
                <a:latin typeface="Calibri"/>
                <a:cs typeface="Calibri"/>
              </a:rPr>
              <a:t> </a:t>
            </a:r>
            <a:r>
              <a:rPr sz="3600" spc="130" dirty="0">
                <a:solidFill>
                  <a:srgbClr val="0A2844"/>
                </a:solidFill>
                <a:latin typeface="Calibri"/>
                <a:cs typeface="Calibri"/>
              </a:rPr>
              <a:t>Hazard</a:t>
            </a:r>
            <a:r>
              <a:rPr sz="3600" spc="-155" dirty="0">
                <a:solidFill>
                  <a:srgbClr val="0A2844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082442"/>
                </a:solidFill>
                <a:latin typeface="Calibri"/>
                <a:cs typeface="Calibri"/>
              </a:rPr>
              <a:t>Mops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0417" y="5962903"/>
            <a:ext cx="7188200" cy="137668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4445">
              <a:lnSpc>
                <a:spcPct val="119900"/>
              </a:lnSpc>
              <a:spcBef>
                <a:spcPts val="160"/>
              </a:spcBef>
            </a:pP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MineShield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provides</a:t>
            </a:r>
            <a:r>
              <a:rPr sz="2450" spc="-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live</a:t>
            </a:r>
            <a:r>
              <a:rPr sz="2450" spc="-2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mapping</a:t>
            </a:r>
            <a:r>
              <a:rPr sz="2450" spc="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showing</a:t>
            </a:r>
            <a:r>
              <a:rPr sz="2450" spc="-1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danger</a:t>
            </a:r>
            <a:r>
              <a:rPr sz="2450" spc="-1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zones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across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the</a:t>
            </a:r>
            <a:r>
              <a:rPr sz="2450" spc="-30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mine</a:t>
            </a:r>
            <a:r>
              <a:rPr sz="2450" spc="-1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site.</a:t>
            </a:r>
            <a:r>
              <a:rPr sz="2450" spc="-1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Visual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overlays</a:t>
            </a:r>
            <a:r>
              <a:rPr sz="245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allow</a:t>
            </a:r>
            <a:r>
              <a:rPr sz="2450" spc="-1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workers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 to</a:t>
            </a:r>
            <a:r>
              <a:rPr sz="2450" spc="-1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avoid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high-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risk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 areas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during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their</a:t>
            </a:r>
            <a:r>
              <a:rPr sz="2450" spc="-10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shift</a:t>
            </a:r>
            <a:r>
              <a:rPr sz="2450" spc="-10" dirty="0">
                <a:solidFill>
                  <a:srgbClr val="4F4F4F"/>
                </a:solidFill>
                <a:latin typeface="Calibri"/>
                <a:cs typeface="Calibri"/>
              </a:rPr>
              <a:t>.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39059" y="5160571"/>
            <a:ext cx="5021580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185" dirty="0">
                <a:solidFill>
                  <a:srgbClr val="0C2A4D"/>
                </a:solidFill>
                <a:latin typeface="Calibri"/>
                <a:cs typeface="Calibri"/>
              </a:rPr>
              <a:t>Automated</a:t>
            </a:r>
            <a:r>
              <a:rPr sz="3450" spc="-30" dirty="0">
                <a:solidFill>
                  <a:srgbClr val="0C2A4D"/>
                </a:solidFill>
                <a:latin typeface="Calibri"/>
                <a:cs typeface="Calibri"/>
              </a:rPr>
              <a:t> </a:t>
            </a:r>
            <a:r>
              <a:rPr sz="3450" spc="210" dirty="0">
                <a:solidFill>
                  <a:srgbClr val="012444"/>
                </a:solidFill>
                <a:latin typeface="Calibri"/>
                <a:cs typeface="Calibri"/>
              </a:rPr>
              <a:t>Fall</a:t>
            </a:r>
            <a:r>
              <a:rPr sz="3450" spc="-385" dirty="0">
                <a:solidFill>
                  <a:srgbClr val="012444"/>
                </a:solidFill>
                <a:latin typeface="Calibri"/>
                <a:cs typeface="Calibri"/>
              </a:rPr>
              <a:t> </a:t>
            </a:r>
            <a:r>
              <a:rPr sz="3450" spc="105" dirty="0">
                <a:solidFill>
                  <a:srgbClr val="0F2344"/>
                </a:solidFill>
                <a:latin typeface="Calibri"/>
                <a:cs typeface="Calibri"/>
              </a:rPr>
              <a:t>Detection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32981" y="5962903"/>
            <a:ext cx="7228205" cy="137668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3175">
              <a:lnSpc>
                <a:spcPct val="119900"/>
              </a:lnSpc>
              <a:spcBef>
                <a:spcPts val="160"/>
              </a:spcBef>
            </a:pP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Built-in</a:t>
            </a:r>
            <a:r>
              <a:rPr sz="2450" spc="-1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accelerometer</a:t>
            </a:r>
            <a:r>
              <a:rPr sz="2450" spc="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analysis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detects</a:t>
            </a:r>
            <a:r>
              <a:rPr sz="2450" spc="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sudden</a:t>
            </a:r>
            <a:r>
              <a:rPr sz="2450" spc="-1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impacts.</a:t>
            </a:r>
            <a:r>
              <a:rPr sz="2450" spc="-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If</a:t>
            </a:r>
            <a:r>
              <a:rPr sz="2450" spc="-1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a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fall</a:t>
            </a:r>
            <a:r>
              <a:rPr sz="2450" spc="-1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is</a:t>
            </a:r>
            <a:r>
              <a:rPr sz="2450" spc="-1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detected,</a:t>
            </a:r>
            <a:r>
              <a:rPr sz="2450" spc="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</a:t>
            </a:r>
            <a:r>
              <a:rPr sz="2450" spc="-1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automatic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70" dirty="0">
                <a:solidFill>
                  <a:srgbClr val="FFC000"/>
                </a:solidFill>
                <a:latin typeface="Calibri"/>
                <a:cs typeface="Calibri"/>
              </a:rPr>
              <a:t>SOS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 alert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with</a:t>
            </a:r>
            <a:r>
              <a:rPr sz="2450" spc="-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GPS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coordinates</a:t>
            </a:r>
            <a:r>
              <a:rPr sz="2450" spc="-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is</a:t>
            </a:r>
            <a:r>
              <a:rPr sz="2450" spc="-1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broadcast</a:t>
            </a:r>
            <a:r>
              <a:rPr sz="2450" spc="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450" spc="-2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90" dirty="0">
                <a:solidFill>
                  <a:srgbClr val="FFC000"/>
                </a:solidFill>
                <a:latin typeface="Calibri"/>
                <a:cs typeface="Calibri"/>
              </a:rPr>
              <a:t>emergency</a:t>
            </a:r>
            <a:r>
              <a:rPr sz="2450" spc="-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teams.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5702" y="824970"/>
            <a:ext cx="10733927" cy="1015164"/>
          </a:xfrm>
          <a:prstGeom prst="rect">
            <a:avLst/>
          </a:prstGeom>
        </p:spPr>
        <p:txBody>
          <a:bodyPr vert="horz" wrap="square" lIns="0" tIns="106186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25"/>
              </a:spcBef>
            </a:pPr>
            <a:r>
              <a:rPr sz="5900" spc="55" dirty="0">
                <a:solidFill>
                  <a:srgbClr val="0A243F"/>
                </a:solidFill>
              </a:rPr>
              <a:t>Noise</a:t>
            </a:r>
            <a:r>
              <a:rPr sz="5900" spc="-380" dirty="0">
                <a:solidFill>
                  <a:srgbClr val="0A243F"/>
                </a:solidFill>
              </a:rPr>
              <a:t> </a:t>
            </a:r>
            <a:r>
              <a:rPr sz="5900" spc="260" dirty="0">
                <a:solidFill>
                  <a:srgbClr val="FFC000"/>
                </a:solidFill>
              </a:rPr>
              <a:t>Monitoring</a:t>
            </a:r>
            <a:endParaRPr sz="5900" dirty="0">
              <a:solidFill>
                <a:srgbClr val="FFC000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2450" y="2920456"/>
            <a:ext cx="1500695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MineShield</a:t>
            </a:r>
            <a:r>
              <a:rPr sz="2300" spc="1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continuously</a:t>
            </a:r>
            <a:r>
              <a:rPr sz="2300" spc="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monitors</a:t>
            </a:r>
            <a:r>
              <a:rPr sz="2300" spc="1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ambient</a:t>
            </a:r>
            <a:r>
              <a:rPr sz="2300" spc="19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noise</a:t>
            </a:r>
            <a:r>
              <a:rPr sz="23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levels</a:t>
            </a:r>
            <a:r>
              <a:rPr sz="2300" spc="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spc="50" dirty="0">
                <a:solidFill>
                  <a:schemeClr val="tx1"/>
                </a:solidFill>
                <a:latin typeface="Calibri"/>
                <a:cs typeface="Calibri"/>
              </a:rPr>
              <a:t>via</a:t>
            </a:r>
            <a:r>
              <a:rPr sz="2300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smartphone</a:t>
            </a:r>
            <a:r>
              <a:rPr sz="2300" spc="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microphones</a:t>
            </a:r>
            <a:r>
              <a:rPr sz="2300" spc="2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23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prevent</a:t>
            </a:r>
            <a:r>
              <a:rPr sz="2300" spc="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long-term</a:t>
            </a:r>
            <a:r>
              <a:rPr sz="2300" spc="1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chemeClr val="tx1"/>
                </a:solidFill>
                <a:latin typeface="Calibri"/>
                <a:cs typeface="Calibri"/>
              </a:rPr>
              <a:t>hearing</a:t>
            </a:r>
            <a:r>
              <a:rPr sz="2300" spc="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chemeClr val="tx1"/>
                </a:solidFill>
                <a:latin typeface="Calibri"/>
                <a:cs typeface="Calibri"/>
              </a:rPr>
              <a:t>damage.</a:t>
            </a:r>
            <a:endParaRPr sz="23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62971" y="9627058"/>
            <a:ext cx="879030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i="1" dirty="0">
                <a:solidFill>
                  <a:srgbClr val="4D4D4D"/>
                </a:solidFill>
                <a:latin typeface="Times New Roman"/>
                <a:cs typeface="Times New Roman"/>
              </a:rPr>
              <a:t>Alerts</a:t>
            </a:r>
            <a:r>
              <a:rPr sz="2300" i="1" spc="-5" dirty="0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sz="2300" i="1" dirty="0">
                <a:solidFill>
                  <a:srgbClr val="464646"/>
                </a:solidFill>
                <a:latin typeface="Times New Roman"/>
                <a:cs typeface="Times New Roman"/>
              </a:rPr>
              <a:t>are</a:t>
            </a:r>
            <a:r>
              <a:rPr sz="2300" i="1" spc="50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2300" i="1" dirty="0">
                <a:solidFill>
                  <a:srgbClr val="494949"/>
                </a:solidFill>
                <a:latin typeface="Times New Roman"/>
                <a:cs typeface="Times New Roman"/>
              </a:rPr>
              <a:t>triggered</a:t>
            </a:r>
            <a:r>
              <a:rPr sz="2300" i="1" spc="210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2300" i="1" spc="60" dirty="0">
                <a:solidFill>
                  <a:srgbClr val="484848"/>
                </a:solidFill>
                <a:latin typeface="Times New Roman"/>
                <a:cs typeface="Times New Roman"/>
              </a:rPr>
              <a:t>when</a:t>
            </a:r>
            <a:r>
              <a:rPr sz="2300" i="1" spc="-35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2300" i="1" dirty="0">
                <a:solidFill>
                  <a:srgbClr val="494949"/>
                </a:solidFill>
                <a:latin typeface="Times New Roman"/>
                <a:cs typeface="Times New Roman"/>
              </a:rPr>
              <a:t>decibel</a:t>
            </a:r>
            <a:r>
              <a:rPr sz="2300" i="1" spc="215" dirty="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sz="2300" i="1" dirty="0">
                <a:solidFill>
                  <a:srgbClr val="424242"/>
                </a:solidFill>
                <a:latin typeface="Times New Roman"/>
                <a:cs typeface="Times New Roman"/>
              </a:rPr>
              <a:t>thresholds</a:t>
            </a:r>
            <a:r>
              <a:rPr sz="2300" i="1" spc="90" dirty="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sz="2300" i="1" dirty="0">
                <a:solidFill>
                  <a:srgbClr val="505050"/>
                </a:solidFill>
                <a:latin typeface="Times New Roman"/>
                <a:cs typeface="Times New Roman"/>
              </a:rPr>
              <a:t>exceed</a:t>
            </a:r>
            <a:r>
              <a:rPr sz="2300" i="1" spc="20" dirty="0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sz="2300" i="1" dirty="0">
                <a:solidFill>
                  <a:srgbClr val="4B4B4B"/>
                </a:solidFill>
                <a:latin typeface="Times New Roman"/>
                <a:cs typeface="Times New Roman"/>
              </a:rPr>
              <a:t>safe</a:t>
            </a:r>
            <a:r>
              <a:rPr sz="2300" i="1" spc="-40" dirty="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sz="2300" i="1" dirty="0">
                <a:solidFill>
                  <a:srgbClr val="484848"/>
                </a:solidFill>
                <a:latin typeface="Times New Roman"/>
                <a:cs typeface="Times New Roman"/>
              </a:rPr>
              <a:t>exposure</a:t>
            </a:r>
            <a:r>
              <a:rPr sz="2300" i="1" spc="-10" dirty="0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sz="2300" i="1" spc="-10" dirty="0">
                <a:solidFill>
                  <a:srgbClr val="4B4B4B"/>
                </a:solidFill>
                <a:latin typeface="Times New Roman"/>
                <a:cs typeface="Times New Roman"/>
              </a:rPr>
              <a:t>limits.</a:t>
            </a:r>
            <a:endParaRPr sz="2300" dirty="0">
              <a:latin typeface="Times New Roman"/>
              <a:cs typeface="Times New Roman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450" y="3603718"/>
            <a:ext cx="14871348" cy="57191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7771" y="6203999"/>
            <a:ext cx="10931604" cy="6282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97771" y="5261619"/>
            <a:ext cx="5465802" cy="6282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97771" y="3376860"/>
            <a:ext cx="10366176" cy="62825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82065" y="4303533"/>
            <a:ext cx="8002905" cy="65214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43510" rIns="0" bIns="0" rtlCol="0">
            <a:spAutoFit/>
          </a:bodyPr>
          <a:lstStyle/>
          <a:p>
            <a:pPr marL="248285">
              <a:lnSpc>
                <a:spcPct val="100000"/>
              </a:lnSpc>
              <a:spcBef>
                <a:spcPts val="1130"/>
              </a:spcBef>
            </a:pPr>
            <a:r>
              <a:rPr sz="1900" dirty="0">
                <a:solidFill>
                  <a:srgbClr val="FFFFFF"/>
                </a:solidFill>
                <a:latin typeface="Times New Roman"/>
                <a:cs typeface="Times New Roman"/>
              </a:rPr>
              <a:t>60</a:t>
            </a:r>
            <a:r>
              <a:rPr sz="1900" spc="-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60" dirty="0">
                <a:solidFill>
                  <a:srgbClr val="FFFFFF"/>
                </a:solidFill>
                <a:latin typeface="Times New Roman"/>
                <a:cs typeface="Times New Roman"/>
              </a:rPr>
              <a:t>%</a:t>
            </a:r>
            <a:r>
              <a:rPr sz="19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Times New Roman"/>
                <a:cs typeface="Times New Roman"/>
              </a:rPr>
              <a:t>Priority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052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10"/>
              </a:spcBef>
            </a:pPr>
            <a:r>
              <a:rPr sz="6300" spc="254" dirty="0">
                <a:solidFill>
                  <a:srgbClr val="072642"/>
                </a:solidFill>
                <a:latin typeface="Calibri"/>
                <a:cs typeface="Calibri"/>
              </a:rPr>
              <a:t>Supervisor</a:t>
            </a:r>
            <a:endParaRPr sz="6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2381" y="3487847"/>
            <a:ext cx="140144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110" dirty="0">
                <a:solidFill>
                  <a:srgbClr val="132D49"/>
                </a:solidFill>
                <a:latin typeface="Cambria"/>
                <a:cs typeface="Cambria"/>
              </a:rPr>
              <a:t>Gas</a:t>
            </a:r>
            <a:r>
              <a:rPr sz="1900" spc="45" dirty="0">
                <a:solidFill>
                  <a:srgbClr val="132D49"/>
                </a:solidFill>
                <a:latin typeface="Cambria"/>
                <a:cs typeface="Cambria"/>
              </a:rPr>
              <a:t> </a:t>
            </a:r>
            <a:r>
              <a:rPr sz="1900" spc="50" dirty="0">
                <a:solidFill>
                  <a:srgbClr val="1C1C1C"/>
                </a:solidFill>
                <a:latin typeface="Cambria"/>
                <a:cs typeface="Cambria"/>
              </a:rPr>
              <a:t>Hazards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31941" y="4430227"/>
            <a:ext cx="2047239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95" dirty="0">
                <a:solidFill>
                  <a:srgbClr val="00233F"/>
                </a:solidFill>
                <a:latin typeface="Times New Roman"/>
                <a:cs typeface="Times New Roman"/>
              </a:rPr>
              <a:t>Equipment</a:t>
            </a:r>
            <a:r>
              <a:rPr sz="1900" spc="280" dirty="0">
                <a:solidFill>
                  <a:srgbClr val="00233F"/>
                </a:solidFill>
                <a:latin typeface="Times New Roman"/>
                <a:cs typeface="Times New Roman"/>
              </a:rPr>
              <a:t> </a:t>
            </a:r>
            <a:r>
              <a:rPr sz="1900" spc="60" dirty="0">
                <a:solidFill>
                  <a:srgbClr val="1A1A1A"/>
                </a:solidFill>
                <a:latin typeface="Times New Roman"/>
                <a:cs typeface="Times New Roman"/>
              </a:rPr>
              <a:t>Failure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54338" y="5372607"/>
            <a:ext cx="1741170" cy="1262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130"/>
              </a:spcBef>
            </a:pPr>
            <a:r>
              <a:rPr sz="1900" dirty="0">
                <a:solidFill>
                  <a:srgbClr val="001F42"/>
                </a:solidFill>
                <a:latin typeface="Cambria"/>
                <a:cs typeface="Cambria"/>
              </a:rPr>
              <a:t>Worker</a:t>
            </a:r>
            <a:r>
              <a:rPr sz="1900" spc="215" dirty="0">
                <a:solidFill>
                  <a:srgbClr val="001F42"/>
                </a:solidFill>
                <a:latin typeface="Cambria"/>
                <a:cs typeface="Cambria"/>
              </a:rPr>
              <a:t> </a:t>
            </a:r>
            <a:r>
              <a:rPr sz="1900" spc="50" dirty="0">
                <a:solidFill>
                  <a:srgbClr val="0F213F"/>
                </a:solidFill>
                <a:latin typeface="Cambria"/>
                <a:cs typeface="Cambria"/>
              </a:rPr>
              <a:t>Falls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solidFill>
                  <a:srgbClr val="242424"/>
                </a:solidFill>
                <a:latin typeface="Times New Roman"/>
                <a:cs typeface="Times New Roman"/>
              </a:rPr>
              <a:t>Noise</a:t>
            </a:r>
            <a:r>
              <a:rPr sz="1900" spc="7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03264B"/>
                </a:solidFill>
                <a:latin typeface="Times New Roman"/>
                <a:cs typeface="Times New Roman"/>
              </a:rPr>
              <a:t>Violations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4985" y="9155214"/>
            <a:ext cx="1677289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Real-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time</a:t>
            </a:r>
            <a:r>
              <a:rPr sz="2450" spc="-1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analytics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provide </a:t>
            </a:r>
            <a:r>
              <a:rPr sz="2450" spc="-70" dirty="0">
                <a:solidFill>
                  <a:srgbClr val="FFC000"/>
                </a:solidFill>
                <a:latin typeface="Calibri"/>
                <a:cs typeface="Calibri"/>
              </a:rPr>
              <a:t>comprehensive</a:t>
            </a:r>
            <a:r>
              <a:rPr sz="2450" spc="3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insights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into</a:t>
            </a:r>
            <a:r>
              <a:rPr sz="2450" spc="-1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hazard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trends,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worker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locations,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10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alert</a:t>
            </a:r>
            <a:r>
              <a:rPr sz="2450" spc="-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histories</a:t>
            </a:r>
            <a:r>
              <a:rPr sz="245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informed</a:t>
            </a:r>
            <a:r>
              <a:rPr sz="2450" spc="-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decision-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making</a:t>
            </a:r>
            <a:r>
              <a:rPr sz="2450" spc="-10" dirty="0">
                <a:solidFill>
                  <a:srgbClr val="3F3F3F"/>
                </a:solidFill>
                <a:latin typeface="Calibri"/>
                <a:cs typeface="Calibri"/>
              </a:rPr>
              <a:t>.</a:t>
            </a:r>
            <a:endParaRPr sz="24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702" y="824970"/>
            <a:ext cx="11289948" cy="10432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6700" spc="195" dirty="0" smtClean="0">
                <a:solidFill>
                  <a:srgbClr val="0A243F"/>
                </a:solidFill>
                <a:latin typeface="Calibri"/>
                <a:cs typeface="Calibri"/>
              </a:rPr>
              <a:t>Non-</a:t>
            </a:r>
            <a:r>
              <a:rPr sz="6700" spc="95" dirty="0" smtClean="0">
                <a:solidFill>
                  <a:srgbClr val="0A243F"/>
                </a:solidFill>
                <a:latin typeface="Calibri"/>
                <a:cs typeface="Calibri"/>
              </a:rPr>
              <a:t>Functional</a:t>
            </a:r>
            <a:r>
              <a:rPr lang="en-US" sz="6700" spc="95" dirty="0" smtClean="0">
                <a:solidFill>
                  <a:srgbClr val="0A243F"/>
                </a:solidFill>
                <a:latin typeface="Calibri"/>
                <a:cs typeface="Calibri"/>
              </a:rPr>
              <a:t> </a:t>
            </a:r>
            <a:r>
              <a:rPr sz="6700" spc="95" dirty="0" smtClean="0">
                <a:solidFill>
                  <a:srgbClr val="FFC000"/>
                </a:solidFill>
                <a:latin typeface="Calibri"/>
                <a:cs typeface="Calibri"/>
              </a:rPr>
              <a:t>Requirements</a:t>
            </a:r>
            <a:endParaRPr sz="670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9580" y="5008744"/>
            <a:ext cx="8494395" cy="2833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8335">
              <a:lnSpc>
                <a:spcPct val="100000"/>
              </a:lnSpc>
              <a:spcBef>
                <a:spcPts val="95"/>
              </a:spcBef>
            </a:pP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Performance:</a:t>
            </a:r>
            <a:r>
              <a:rPr sz="2450" spc="-1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Dashboard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loads</a:t>
            </a:r>
            <a:r>
              <a:rPr sz="2450" spc="-11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within</a:t>
            </a:r>
            <a:r>
              <a:rPr sz="2450" spc="-1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3s</a:t>
            </a:r>
            <a:r>
              <a:rPr sz="2450" spc="-1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2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optimal</a:t>
            </a:r>
            <a:r>
              <a:rPr sz="2450" spc="-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experience.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646430" marR="929640" indent="-634365">
              <a:lnSpc>
                <a:spcPct val="122000"/>
              </a:lnSpc>
              <a:spcBef>
                <a:spcPts val="2350"/>
              </a:spcBef>
              <a:tabLst>
                <a:tab pos="647700" algn="l"/>
              </a:tabLst>
            </a:pP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		Security: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Data</a:t>
            </a:r>
            <a:r>
              <a:rPr sz="2450" spc="-1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encryption</a:t>
            </a:r>
            <a:r>
              <a:rPr sz="2450" spc="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1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100" dirty="0">
                <a:solidFill>
                  <a:srgbClr val="FFC000"/>
                </a:solidFill>
                <a:latin typeface="Calibri"/>
                <a:cs typeface="Calibri"/>
              </a:rPr>
              <a:t>RBAC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450" spc="-2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protect</a:t>
            </a:r>
            <a:r>
              <a:rPr sz="2450" spc="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sensitive information.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643255" marR="1058545" indent="-3175">
              <a:lnSpc>
                <a:spcPct val="122000"/>
              </a:lnSpc>
              <a:spcBef>
                <a:spcPts val="2475"/>
              </a:spcBef>
            </a:pP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Usability:</a:t>
            </a:r>
            <a:r>
              <a:rPr sz="2450" spc="-1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Simple</a:t>
            </a:r>
            <a:r>
              <a:rPr sz="2450" spc="-1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50" dirty="0">
                <a:solidFill>
                  <a:srgbClr val="FFC000"/>
                </a:solidFill>
                <a:latin typeface="Calibri"/>
                <a:cs typeface="Calibri"/>
              </a:rPr>
              <a:t>UI</a:t>
            </a:r>
            <a:r>
              <a:rPr sz="2450" spc="-1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designed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1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high-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stress</a:t>
            </a:r>
            <a:r>
              <a:rPr sz="2450" spc="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emergency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reporting.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31921" y="4941992"/>
            <a:ext cx="7738109" cy="167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marR="5080" indent="-2540">
              <a:lnSpc>
                <a:spcPct val="117800"/>
              </a:lnSpc>
              <a:spcBef>
                <a:spcPts val="100"/>
              </a:spcBef>
            </a:pPr>
            <a:r>
              <a:rPr sz="2450" dirty="0" smtClean="0">
                <a:solidFill>
                  <a:srgbClr val="FFC000"/>
                </a:solidFill>
                <a:latin typeface="Calibri"/>
                <a:cs typeface="Calibri"/>
              </a:rPr>
              <a:t>Reliability:</a:t>
            </a:r>
            <a:r>
              <a:rPr sz="2450" spc="20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 smtClean="0">
                <a:solidFill>
                  <a:srgbClr val="FFC000"/>
                </a:solidFill>
                <a:latin typeface="Calibri"/>
                <a:cs typeface="Calibri"/>
              </a:rPr>
              <a:t>Offline</a:t>
            </a:r>
            <a:r>
              <a:rPr sz="2450" spc="-190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 smtClean="0">
                <a:solidFill>
                  <a:srgbClr val="FFC000"/>
                </a:solidFill>
                <a:latin typeface="Calibri"/>
                <a:cs typeface="Calibri"/>
              </a:rPr>
              <a:t>buffering</a:t>
            </a:r>
            <a:r>
              <a:rPr sz="2450" spc="-4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 smtClean="0">
                <a:solidFill>
                  <a:srgbClr val="FFC000"/>
                </a:solidFill>
                <a:latin typeface="Calibri"/>
                <a:cs typeface="Calibri"/>
              </a:rPr>
              <a:t>preserves</a:t>
            </a:r>
            <a:r>
              <a:rPr sz="2450" spc="40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 smtClean="0">
                <a:solidFill>
                  <a:srgbClr val="FFC000"/>
                </a:solidFill>
                <a:latin typeface="Calibri"/>
                <a:cs typeface="Calibri"/>
              </a:rPr>
              <a:t>data</a:t>
            </a:r>
            <a:r>
              <a:rPr sz="2450" spc="-15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 smtClean="0">
                <a:solidFill>
                  <a:srgbClr val="FFC000"/>
                </a:solidFill>
                <a:latin typeface="Calibri"/>
                <a:cs typeface="Calibri"/>
              </a:rPr>
              <a:t>during</a:t>
            </a:r>
            <a:r>
              <a:rPr sz="2450" spc="-8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 smtClean="0">
                <a:solidFill>
                  <a:srgbClr val="FFC000"/>
                </a:solidFill>
                <a:latin typeface="Calibri"/>
                <a:cs typeface="Calibri"/>
              </a:rPr>
              <a:t>connectivity gaps.</a:t>
            </a:r>
            <a:endParaRPr sz="2450" dirty="0" smtClean="0">
              <a:solidFill>
                <a:srgbClr val="FFC000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50" dirty="0" smtClean="0">
              <a:solidFill>
                <a:srgbClr val="FFC00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50" dirty="0" smtClean="0">
                <a:solidFill>
                  <a:srgbClr val="FFC000"/>
                </a:solidFill>
                <a:latin typeface="Calibri"/>
                <a:cs typeface="Calibri"/>
              </a:rPr>
              <a:t>Compatibility:</a:t>
            </a:r>
            <a:r>
              <a:rPr sz="2450" spc="-19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 smtClean="0">
                <a:solidFill>
                  <a:srgbClr val="FFC000"/>
                </a:solidFill>
                <a:latin typeface="Calibri"/>
                <a:cs typeface="Calibri"/>
              </a:rPr>
              <a:t>Optimized</a:t>
            </a:r>
            <a:r>
              <a:rPr sz="2450" spc="-5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 smtClean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15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 smtClean="0">
                <a:solidFill>
                  <a:srgbClr val="FFC000"/>
                </a:solidFill>
                <a:latin typeface="Calibri"/>
                <a:cs typeface="Calibri"/>
              </a:rPr>
              <a:t>modern</a:t>
            </a:r>
            <a:r>
              <a:rPr sz="2450" spc="-30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 smtClean="0">
                <a:solidFill>
                  <a:srgbClr val="FFC000"/>
                </a:solidFill>
                <a:latin typeface="Calibri"/>
                <a:cs typeface="Calibri"/>
              </a:rPr>
              <a:t>Android</a:t>
            </a:r>
            <a:r>
              <a:rPr sz="2450" spc="-85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 smtClean="0">
                <a:solidFill>
                  <a:srgbClr val="FFC000"/>
                </a:solidFill>
                <a:latin typeface="Calibri"/>
                <a:cs typeface="Calibri"/>
              </a:rPr>
              <a:t>(10+)</a:t>
            </a:r>
            <a:r>
              <a:rPr sz="2450" spc="-110" dirty="0" smtClean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 smtClean="0">
                <a:solidFill>
                  <a:srgbClr val="FFC000"/>
                </a:solidFill>
                <a:latin typeface="Calibri"/>
                <a:cs typeface="Calibri"/>
              </a:rPr>
              <a:t>devices.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2379" y="6125467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62825">
            <a:solidFill>
              <a:srgbClr val="0726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7483" y="6471007"/>
            <a:ext cx="235594" cy="2198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34252" y="6463153"/>
            <a:ext cx="235594" cy="2355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617" y="874053"/>
            <a:ext cx="5141595" cy="98360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520190" algn="l"/>
                <a:tab pos="2978785" algn="l"/>
              </a:tabLst>
            </a:pPr>
            <a:r>
              <a:rPr sz="6300" spc="-25" dirty="0" smtClean="0">
                <a:solidFill>
                  <a:srgbClr val="0C233D"/>
                </a:solidFill>
                <a:latin typeface="Calibri"/>
                <a:cs typeface="Calibri"/>
              </a:rPr>
              <a:t>Key</a:t>
            </a:r>
            <a:r>
              <a:rPr lang="en-US" sz="6300" spc="-25" dirty="0" smtClean="0">
                <a:solidFill>
                  <a:srgbClr val="0C233D"/>
                </a:solidFill>
                <a:latin typeface="Calibri"/>
                <a:cs typeface="Calibri"/>
              </a:rPr>
              <a:t> </a:t>
            </a:r>
            <a:r>
              <a:rPr sz="6300" spc="-25" dirty="0" smtClean="0">
                <a:solidFill>
                  <a:srgbClr val="FFC000"/>
                </a:solidFill>
                <a:latin typeface="Calibri"/>
                <a:cs typeface="Calibri"/>
              </a:rPr>
              <a:t>B</a:t>
            </a:r>
            <a:r>
              <a:rPr lang="en-US" sz="6300" spc="-25" dirty="0" smtClean="0">
                <a:solidFill>
                  <a:srgbClr val="FFC000"/>
                </a:solidFill>
                <a:latin typeface="Calibri"/>
                <a:cs typeface="Calibri"/>
              </a:rPr>
              <a:t>a</a:t>
            </a:r>
            <a:r>
              <a:rPr sz="6300" spc="-25" dirty="0" smtClean="0">
                <a:solidFill>
                  <a:srgbClr val="FFC000"/>
                </a:solidFill>
                <a:latin typeface="Calibri"/>
                <a:cs typeface="Calibri"/>
              </a:rPr>
              <a:t>se</a:t>
            </a:r>
            <a:r>
              <a:rPr sz="6300" dirty="0">
                <a:solidFill>
                  <a:srgbClr val="FFC000"/>
                </a:solidFill>
                <a:latin typeface="Calibri"/>
                <a:cs typeface="Calibri"/>
              </a:rPr>
              <a:t>	</a:t>
            </a:r>
            <a:r>
              <a:rPr sz="6300" spc="475" dirty="0">
                <a:solidFill>
                  <a:srgbClr val="FFC000"/>
                </a:solidFill>
                <a:latin typeface="Calibri"/>
                <a:cs typeface="Calibri"/>
              </a:rPr>
              <a:t>Cases</a:t>
            </a:r>
            <a:endParaRPr sz="630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2136" y="5431506"/>
            <a:ext cx="224663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95" dirty="0">
                <a:solidFill>
                  <a:srgbClr val="08263B"/>
                </a:solidFill>
                <a:latin typeface="Calibri"/>
                <a:cs typeface="Calibri"/>
              </a:rPr>
              <a:t>Report</a:t>
            </a:r>
            <a:r>
              <a:rPr sz="2700" spc="70" dirty="0">
                <a:solidFill>
                  <a:srgbClr val="08263B"/>
                </a:solidFill>
                <a:latin typeface="Calibri"/>
                <a:cs typeface="Calibri"/>
              </a:rPr>
              <a:t> </a:t>
            </a:r>
            <a:r>
              <a:rPr sz="2700" spc="150" dirty="0">
                <a:solidFill>
                  <a:srgbClr val="002348"/>
                </a:solidFill>
                <a:latin typeface="Calibri"/>
                <a:cs typeface="Calibri"/>
              </a:rPr>
              <a:t>Hazard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3111" y="7156584"/>
            <a:ext cx="4931410" cy="93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2385" marR="5080" indent="-1289685">
              <a:lnSpc>
                <a:spcPct val="122000"/>
              </a:lnSpc>
              <a:spcBef>
                <a:spcPts val="100"/>
              </a:spcBef>
            </a:pP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Workers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report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hazards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with</a:t>
            </a:r>
            <a:r>
              <a:rPr sz="2450" spc="-1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images</a:t>
            </a:r>
            <a:r>
              <a:rPr sz="2450" spc="-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and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location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for</a:t>
            </a:r>
            <a:r>
              <a:rPr sz="2450" spc="-10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review.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66026" y="5431506"/>
            <a:ext cx="215265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125" dirty="0">
                <a:solidFill>
                  <a:srgbClr val="082846"/>
                </a:solidFill>
                <a:latin typeface="Calibri"/>
                <a:cs typeface="Calibri"/>
              </a:rPr>
              <a:t>Fall</a:t>
            </a:r>
            <a:r>
              <a:rPr sz="2700" spc="-330" dirty="0">
                <a:solidFill>
                  <a:srgbClr val="082846"/>
                </a:solidFill>
                <a:latin typeface="Calibri"/>
                <a:cs typeface="Calibri"/>
              </a:rPr>
              <a:t> </a:t>
            </a:r>
            <a:r>
              <a:rPr sz="2700" spc="140" dirty="0">
                <a:solidFill>
                  <a:srgbClr val="112646"/>
                </a:solidFill>
                <a:latin typeface="Calibri"/>
                <a:cs typeface="Calibri"/>
              </a:rPr>
              <a:t>Detection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21322" y="7156584"/>
            <a:ext cx="5267960" cy="93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5665" marR="5080" indent="-2133600">
              <a:lnSpc>
                <a:spcPct val="122000"/>
              </a:lnSpc>
              <a:spcBef>
                <a:spcPts val="100"/>
              </a:spcBef>
            </a:pP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Sensors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automatically</a:t>
            </a:r>
            <a:r>
              <a:rPr sz="2450" spc="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trigger</a:t>
            </a:r>
            <a:r>
              <a:rPr sz="2450" spc="-10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SOS</a:t>
            </a:r>
            <a:r>
              <a:rPr sz="2450" spc="-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alerts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to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officers.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62684" y="5431506"/>
            <a:ext cx="167322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45" dirty="0">
                <a:solidFill>
                  <a:srgbClr val="002644"/>
                </a:solidFill>
                <a:latin typeface="Calibri"/>
                <a:cs typeface="Calibri"/>
              </a:rPr>
              <a:t>Monitoring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275060" y="6212241"/>
            <a:ext cx="26035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35" dirty="0">
                <a:solidFill>
                  <a:srgbClr val="FF8A00"/>
                </a:solidFill>
                <a:latin typeface="Cambria"/>
                <a:cs typeface="Cambria"/>
              </a:rPr>
              <a:t>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774534" y="7156584"/>
            <a:ext cx="5298440" cy="93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2840" marR="5080" indent="-2390775">
              <a:lnSpc>
                <a:spcPct val="122000"/>
              </a:lnSpc>
              <a:spcBef>
                <a:spcPts val="100"/>
              </a:spcBef>
            </a:pP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Supervisors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track</a:t>
            </a:r>
            <a:r>
              <a:rPr sz="2450" spc="-1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hazards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10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safety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trends live.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6131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90"/>
              </a:spcBef>
            </a:pPr>
            <a:r>
              <a:rPr sz="6450" spc="220" dirty="0">
                <a:solidFill>
                  <a:srgbClr val="082442"/>
                </a:solidFill>
                <a:latin typeface="Calibri"/>
                <a:cs typeface="Calibri"/>
              </a:rPr>
              <a:t>Conclusion</a:t>
            </a:r>
            <a:r>
              <a:rPr sz="6450" spc="50" dirty="0">
                <a:solidFill>
                  <a:srgbClr val="082442"/>
                </a:solidFill>
                <a:latin typeface="Calibri"/>
                <a:cs typeface="Calibri"/>
              </a:rPr>
              <a:t> </a:t>
            </a:r>
            <a:r>
              <a:rPr sz="6450" spc="260" dirty="0">
                <a:solidFill>
                  <a:srgbClr val="08263D"/>
                </a:solidFill>
                <a:latin typeface="Calibri"/>
                <a:cs typeface="Calibri"/>
              </a:rPr>
              <a:t>&amp;</a:t>
            </a:r>
            <a:r>
              <a:rPr sz="6450" spc="-550" dirty="0">
                <a:solidFill>
                  <a:srgbClr val="08263D"/>
                </a:solidFill>
                <a:latin typeface="Calibri"/>
                <a:cs typeface="Calibri"/>
              </a:rPr>
              <a:t> </a:t>
            </a:r>
            <a:r>
              <a:rPr sz="6450" spc="-25" dirty="0">
                <a:solidFill>
                  <a:srgbClr val="FFC000"/>
                </a:solidFill>
                <a:latin typeface="Calibri"/>
                <a:cs typeface="Calibri"/>
              </a:rPr>
              <a:t>Q&amp;A</a:t>
            </a:r>
            <a:endParaRPr sz="6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418" y="3104351"/>
            <a:ext cx="7948295" cy="2853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1905">
              <a:lnSpc>
                <a:spcPct val="122000"/>
              </a:lnSpc>
              <a:spcBef>
                <a:spcPts val="100"/>
              </a:spcBef>
            </a:pP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MineShield</a:t>
            </a:r>
            <a:r>
              <a:rPr sz="2450" spc="-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represents</a:t>
            </a:r>
            <a:r>
              <a:rPr sz="2450" spc="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a</a:t>
            </a:r>
            <a:r>
              <a:rPr sz="2450" spc="-1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transformative</a:t>
            </a:r>
            <a:r>
              <a:rPr sz="2450" spc="-2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approach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2450" spc="-25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mine</a:t>
            </a:r>
            <a:r>
              <a:rPr sz="2450" spc="-1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safety,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bridging</a:t>
            </a:r>
            <a:r>
              <a:rPr sz="2450" spc="-11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the</a:t>
            </a:r>
            <a:r>
              <a:rPr sz="2450" spc="-2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gap</a:t>
            </a:r>
            <a:r>
              <a:rPr sz="2450" spc="-1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between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conventional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measures</a:t>
            </a:r>
            <a:r>
              <a:rPr sz="245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85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2450" spc="-2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digital innovation.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12700" marR="46355" indent="3175">
              <a:lnSpc>
                <a:spcPct val="122000"/>
              </a:lnSpc>
            </a:pPr>
            <a:r>
              <a:rPr sz="2450" spc="80" dirty="0">
                <a:solidFill>
                  <a:srgbClr val="FFC000"/>
                </a:solidFill>
                <a:latin typeface="Calibri"/>
                <a:cs typeface="Calibri"/>
              </a:rPr>
              <a:t>By</a:t>
            </a:r>
            <a:r>
              <a:rPr sz="2450" spc="-1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leveraging</a:t>
            </a:r>
            <a:r>
              <a:rPr sz="2450" spc="-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existing</a:t>
            </a:r>
            <a:r>
              <a:rPr sz="2450" spc="-12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0" dirty="0">
                <a:solidFill>
                  <a:srgbClr val="FFC000"/>
                </a:solidFill>
                <a:latin typeface="Calibri"/>
                <a:cs typeface="Calibri"/>
              </a:rPr>
              <a:t>smartphone</a:t>
            </a:r>
            <a:r>
              <a:rPr sz="2450" spc="-4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75" dirty="0">
                <a:solidFill>
                  <a:srgbClr val="FFC000"/>
                </a:solidFill>
                <a:latin typeface="Calibri"/>
                <a:cs typeface="Calibri"/>
              </a:rPr>
              <a:t>hardware,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FFC000"/>
                </a:solidFill>
                <a:latin typeface="Calibri"/>
                <a:cs typeface="Calibri"/>
              </a:rPr>
              <a:t>we</a:t>
            </a:r>
            <a:r>
              <a:rPr sz="2450" spc="-2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offer</a:t>
            </a:r>
            <a:r>
              <a:rPr sz="2450" spc="-9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a</a:t>
            </a:r>
            <a:r>
              <a:rPr sz="2450" spc="-2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cost-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effective, </a:t>
            </a:r>
            <a:r>
              <a:rPr sz="2450" spc="-40" dirty="0">
                <a:solidFill>
                  <a:srgbClr val="FFC000"/>
                </a:solidFill>
                <a:latin typeface="Calibri"/>
                <a:cs typeface="Calibri"/>
              </a:rPr>
              <a:t>real-time</a:t>
            </a:r>
            <a:r>
              <a:rPr sz="2450" spc="-8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30" dirty="0">
                <a:solidFill>
                  <a:srgbClr val="FFC000"/>
                </a:solidFill>
                <a:latin typeface="Calibri"/>
                <a:cs typeface="Calibri"/>
              </a:rPr>
              <a:t>solution</a:t>
            </a:r>
            <a:r>
              <a:rPr sz="24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0" dirty="0">
                <a:solidFill>
                  <a:srgbClr val="FFC000"/>
                </a:solidFill>
                <a:latin typeface="Calibri"/>
                <a:cs typeface="Calibri"/>
              </a:rPr>
              <a:t>that</a:t>
            </a:r>
            <a:r>
              <a:rPr sz="2450" spc="-11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90" dirty="0">
                <a:solidFill>
                  <a:srgbClr val="FFC000"/>
                </a:solidFill>
                <a:latin typeface="Calibri"/>
                <a:cs typeface="Calibri"/>
              </a:rPr>
              <a:t>empowers</a:t>
            </a:r>
            <a:r>
              <a:rPr sz="2450" spc="-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5" dirty="0">
                <a:solidFill>
                  <a:srgbClr val="FFC000"/>
                </a:solidFill>
                <a:latin typeface="Calibri"/>
                <a:cs typeface="Calibri"/>
              </a:rPr>
              <a:t>every</a:t>
            </a:r>
            <a:r>
              <a:rPr sz="2450" spc="-1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60" dirty="0">
                <a:solidFill>
                  <a:srgbClr val="FFC000"/>
                </a:solidFill>
                <a:latin typeface="Calibri"/>
                <a:cs typeface="Calibri"/>
              </a:rPr>
              <a:t>worker</a:t>
            </a:r>
            <a:r>
              <a:rPr sz="2450" spc="-13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50" spc="-55" dirty="0">
                <a:solidFill>
                  <a:srgbClr val="FFC000"/>
                </a:solidFill>
                <a:latin typeface="Calibri"/>
                <a:cs typeface="Calibri"/>
              </a:rPr>
              <a:t>on-</a:t>
            </a:r>
            <a:r>
              <a:rPr sz="2450" spc="-10" dirty="0">
                <a:solidFill>
                  <a:srgbClr val="FFC000"/>
                </a:solidFill>
                <a:latin typeface="Calibri"/>
                <a:cs typeface="Calibri"/>
              </a:rPr>
              <a:t>site.</a:t>
            </a:r>
            <a:endParaRPr sz="2450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1779" y="7148076"/>
            <a:ext cx="5687060" cy="1393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5"/>
              </a:spcBef>
            </a:pPr>
            <a:r>
              <a:rPr sz="4900" spc="90" dirty="0">
                <a:solidFill>
                  <a:srgbClr val="FFC000"/>
                </a:solidFill>
                <a:latin typeface="Calibri"/>
                <a:cs typeface="Calibri"/>
              </a:rPr>
              <a:t>Thank</a:t>
            </a:r>
            <a:r>
              <a:rPr sz="4900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4900" spc="40" dirty="0">
                <a:solidFill>
                  <a:srgbClr val="FFC000"/>
                </a:solidFill>
                <a:latin typeface="Calibri"/>
                <a:cs typeface="Calibri"/>
              </a:rPr>
              <a:t>You!</a:t>
            </a:r>
            <a:endParaRPr sz="4900" dirty="0">
              <a:solidFill>
                <a:srgbClr val="FFC00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sz="2200" spc="-45" dirty="0">
                <a:solidFill>
                  <a:srgbClr val="424242"/>
                </a:solidFill>
                <a:latin typeface="Arial MT"/>
                <a:cs typeface="Arial MT"/>
              </a:rPr>
              <a:t>Presented</a:t>
            </a:r>
            <a:r>
              <a:rPr sz="2200" spc="10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424242"/>
                </a:solidFill>
                <a:latin typeface="Arial MT"/>
                <a:cs typeface="Arial MT"/>
              </a:rPr>
              <a:t>by:</a:t>
            </a:r>
            <a:r>
              <a:rPr sz="2200" spc="-12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B4B4B"/>
                </a:solidFill>
                <a:latin typeface="Arial MT"/>
                <a:cs typeface="Arial MT"/>
              </a:rPr>
              <a:t>MineShield</a:t>
            </a:r>
            <a:r>
              <a:rPr sz="2200" spc="1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D4D4D"/>
                </a:solidFill>
                <a:latin typeface="Arial MT"/>
                <a:cs typeface="Arial MT"/>
              </a:rPr>
              <a:t>Development</a:t>
            </a:r>
            <a:r>
              <a:rPr sz="2200" spc="13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525252"/>
                </a:solidFill>
                <a:latin typeface="Arial MT"/>
                <a:cs typeface="Arial MT"/>
              </a:rPr>
              <a:t>Team</a:t>
            </a:r>
            <a:endParaRPr sz="2200" dirty="0">
              <a:latin typeface="Arial MT"/>
              <a:cs typeface="Arial M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49" y="0"/>
            <a:ext cx="10716261" cy="112795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73792" y="8045566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3792" y="6757647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3792" y="5469728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3792" y="4166103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0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4460597"/>
            <a:ext cx="1413569" cy="78531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7052141"/>
            <a:ext cx="1413569" cy="78531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9498" y="5748516"/>
            <a:ext cx="1366450" cy="78531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95702" y="824970"/>
            <a:ext cx="10733927" cy="102335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20"/>
              </a:spcBef>
            </a:pPr>
            <a:r>
              <a:rPr sz="6550" spc="325" dirty="0" smtClean="0">
                <a:solidFill>
                  <a:srgbClr val="0C233D"/>
                </a:solidFill>
                <a:latin typeface="Calibri"/>
                <a:cs typeface="Calibri"/>
              </a:rPr>
              <a:t>Im</a:t>
            </a:r>
            <a:r>
              <a:rPr lang="en-US" sz="6550" spc="325" dirty="0" smtClean="0">
                <a:solidFill>
                  <a:srgbClr val="0C233D"/>
                </a:solidFill>
                <a:latin typeface="Calibri"/>
                <a:cs typeface="Calibri"/>
              </a:rPr>
              <a:t>a</a:t>
            </a:r>
            <a:r>
              <a:rPr sz="6550" spc="325" dirty="0" smtClean="0">
                <a:solidFill>
                  <a:srgbClr val="0C233D"/>
                </a:solidFill>
                <a:latin typeface="Calibri"/>
                <a:cs typeface="Calibri"/>
              </a:rPr>
              <a:t>ge</a:t>
            </a:r>
            <a:r>
              <a:rPr sz="6550" spc="-295" dirty="0" smtClean="0">
                <a:solidFill>
                  <a:srgbClr val="0C233D"/>
                </a:solidFill>
                <a:latin typeface="Calibri"/>
                <a:cs typeface="Calibri"/>
              </a:rPr>
              <a:t> </a:t>
            </a:r>
            <a:r>
              <a:rPr sz="6550" spc="160" dirty="0">
                <a:solidFill>
                  <a:srgbClr val="0A243F"/>
                </a:solidFill>
                <a:latin typeface="Calibri"/>
                <a:cs typeface="Calibri"/>
              </a:rPr>
              <a:t>Sources</a:t>
            </a:r>
            <a:endParaRPr sz="655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70717" y="4175718"/>
            <a:ext cx="16390619" cy="3733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5"/>
              </a:spcBef>
            </a:pPr>
            <a:endParaRPr sz="2200" dirty="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</a:pPr>
            <a:r>
              <a:rPr sz="1800" spc="-45" dirty="0">
                <a:solidFill>
                  <a:schemeClr val="tx1"/>
                </a:solidFill>
                <a:latin typeface="Calibri"/>
                <a:cs typeface="Calibri"/>
              </a:rPr>
              <a:t>https</a:t>
            </a:r>
            <a:r>
              <a:rPr sz="1800" spc="-45" dirty="0">
                <a:solidFill>
                  <a:srgbClr val="3B3B3B"/>
                </a:solidFill>
                <a:latin typeface="Calibri"/>
                <a:cs typeface="Calibri"/>
              </a:rPr>
              <a:t>://</a:t>
            </a:r>
            <a:r>
              <a:rPr sz="1800" spc="-45" dirty="0">
                <a:solidFill>
                  <a:schemeClr val="tx1"/>
                </a:solidFill>
                <a:latin typeface="Calibri"/>
                <a:cs typeface="Calibri"/>
              </a:rPr>
              <a:t>IunitraveIs.com/wp-content/upIoads/ashio-copper-mine-</a:t>
            </a:r>
            <a:r>
              <a:rPr sz="1800" spc="-50" dirty="0">
                <a:solidFill>
                  <a:schemeClr val="tx1"/>
                </a:solidFill>
                <a:latin typeface="Calibri"/>
                <a:cs typeface="Calibri"/>
              </a:rPr>
              <a:t>museum-</a:t>
            </a:r>
            <a:r>
              <a:rPr sz="1800" spc="-40" dirty="0">
                <a:solidFill>
                  <a:schemeClr val="tx1"/>
                </a:solidFill>
                <a:latin typeface="Calibri"/>
                <a:cs typeface="Calibri"/>
              </a:rPr>
              <a:t>train-track-</a:t>
            </a:r>
            <a:r>
              <a:rPr sz="1800" spc="-45" dirty="0">
                <a:solidFill>
                  <a:schemeClr val="tx1"/>
                </a:solidFill>
                <a:latin typeface="Calibri"/>
                <a:cs typeface="Calibri"/>
              </a:rPr>
              <a:t>tunneI-entrance-</a:t>
            </a:r>
            <a:r>
              <a:rPr sz="1800" spc="-10" dirty="0">
                <a:solidFill>
                  <a:schemeClr val="tx1"/>
                </a:solidFill>
                <a:latin typeface="Calibri"/>
                <a:cs typeface="Calibri"/>
              </a:rPr>
              <a:t>IunitraveIs.webp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1150"/>
              </a:spcBef>
            </a:pPr>
            <a:r>
              <a:rPr sz="2200" spc="-80" dirty="0">
                <a:solidFill>
                  <a:schemeClr val="tx1"/>
                </a:solidFill>
                <a:latin typeface="Calibri"/>
                <a:cs typeface="Calibri"/>
              </a:rPr>
              <a:t>Source:</a:t>
            </a:r>
            <a:r>
              <a:rPr sz="22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Calibri"/>
                <a:cs typeface="Calibri"/>
              </a:rPr>
              <a:t>IunitraveIs.com</a:t>
            </a:r>
            <a:endParaRPr sz="2200" dirty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200" dirty="0">
              <a:latin typeface="Calibri"/>
              <a:cs typeface="Calibri"/>
            </a:endParaRPr>
          </a:p>
          <a:p>
            <a:pPr marL="18415" marR="4795520" indent="-1905">
              <a:lnSpc>
                <a:spcPct val="166000"/>
              </a:lnSpc>
              <a:spcBef>
                <a:spcPts val="5"/>
              </a:spcBef>
            </a:pPr>
            <a:r>
              <a:rPr sz="1800" spc="-40" dirty="0">
                <a:solidFill>
                  <a:srgbClr val="3A3A3A"/>
                </a:solidFill>
                <a:latin typeface="Calibri"/>
                <a:cs typeface="Calibri"/>
              </a:rPr>
              <a:t>https://</a:t>
            </a:r>
            <a:r>
              <a:rPr sz="1800" spc="-40" dirty="0">
                <a:solidFill>
                  <a:schemeClr val="tx1"/>
                </a:solidFill>
                <a:latin typeface="Calibri"/>
                <a:cs typeface="Calibri"/>
              </a:rPr>
              <a:t>assets.repIocdn.com/projects/54c4a11b-</a:t>
            </a:r>
            <a:r>
              <a:rPr sz="1800" dirty="0">
                <a:solidFill>
                  <a:schemeClr val="tx1"/>
                </a:solidFill>
                <a:latin typeface="Calibri"/>
                <a:cs typeface="Calibri"/>
              </a:rPr>
              <a:t>3548-485c-88a7-e37c4248e64a/429cc87d-bce8-44bb-88ee-</a:t>
            </a:r>
            <a:r>
              <a:rPr sz="1800" spc="-10" dirty="0">
                <a:solidFill>
                  <a:schemeClr val="tx1"/>
                </a:solidFill>
                <a:latin typeface="Calibri"/>
                <a:cs typeface="Calibri"/>
              </a:rPr>
              <a:t>O73OceOeódOc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105" dirty="0">
                <a:solidFill>
                  <a:schemeClr val="tx1"/>
                </a:solidFill>
                <a:latin typeface="Calibri"/>
                <a:cs typeface="Calibri"/>
              </a:rPr>
              <a:t>Source:</a:t>
            </a:r>
            <a:r>
              <a:rPr sz="18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800" b="1" spc="85" dirty="0">
                <a:solidFill>
                  <a:schemeClr val="tx1"/>
                </a:solidFill>
                <a:latin typeface="Calibri"/>
                <a:cs typeface="Calibri"/>
              </a:rPr>
              <a:t>shop.drivemedicalathome.com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95"/>
              </a:spcBef>
            </a:pPr>
            <a:endParaRPr sz="1800" dirty="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</a:pPr>
            <a:r>
              <a:rPr sz="1800" spc="-50" dirty="0">
                <a:solidFill>
                  <a:schemeClr val="tx1"/>
                </a:solidFill>
                <a:latin typeface="Calibri"/>
                <a:cs typeface="Calibri"/>
              </a:rPr>
              <a:t>https://us.pipgIobaI.com/images/mining-</a:t>
            </a:r>
            <a:r>
              <a:rPr sz="1800" spc="-55" dirty="0">
                <a:solidFill>
                  <a:schemeClr val="tx1"/>
                </a:solidFill>
                <a:latin typeface="Calibri"/>
                <a:cs typeface="Calibri"/>
              </a:rPr>
              <a:t>workers-</a:t>
            </a:r>
            <a:r>
              <a:rPr sz="1800" spc="-10" dirty="0">
                <a:solidFill>
                  <a:schemeClr val="tx1"/>
                </a:solidFill>
                <a:latin typeface="Calibri"/>
                <a:cs typeface="Calibri"/>
              </a:rPr>
              <a:t>1.JPG</a:t>
            </a:r>
            <a:endParaRPr sz="1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1150"/>
              </a:spcBef>
            </a:pPr>
            <a:r>
              <a:rPr sz="2200" spc="-80" dirty="0">
                <a:solidFill>
                  <a:schemeClr val="tx1"/>
                </a:solidFill>
                <a:latin typeface="Calibri"/>
                <a:cs typeface="Calibri"/>
              </a:rPr>
              <a:t>Source:</a:t>
            </a:r>
            <a:r>
              <a:rPr sz="2200" spc="-11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Calibri"/>
                <a:cs typeface="Calibri"/>
              </a:rPr>
              <a:t>us.pipglobaI.com</a:t>
            </a:r>
            <a:endParaRPr sz="2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64367" y="8231287"/>
            <a:ext cx="1005205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https://www.magnific.com/premium-ai-image/underground-mine-workers-yellow-safety-gear-observe-large-mining-equipment-deep-gold-mine-tunnel-illuminated-by-bright-lights_360378810.htm</a:t>
            </a:r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379" y="8221736"/>
            <a:ext cx="1465541" cy="9036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582</Words>
  <Application>Microsoft Office PowerPoint</Application>
  <PresentationFormat>Custom</PresentationFormat>
  <Paragraphs>84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Cambria</vt:lpstr>
      <vt:lpstr>Times New Roman</vt:lpstr>
      <vt:lpstr>Office Theme</vt:lpstr>
      <vt:lpstr>PowerPoint Presentation</vt:lpstr>
      <vt:lpstr>Problem Definition</vt:lpstr>
      <vt:lpstr>Solution MineShield</vt:lpstr>
      <vt:lpstr>System Architecture</vt:lpstr>
      <vt:lpstr>Target Users</vt:lpstr>
      <vt:lpstr>Functional: Hazard Reporting</vt:lpstr>
      <vt:lpstr>Mapping &amp; Fall Detection</vt:lpstr>
      <vt:lpstr>Noise Monitoring</vt:lpstr>
      <vt:lpstr>Supervisor</vt:lpstr>
      <vt:lpstr>Non-Functional Requirements</vt:lpstr>
      <vt:lpstr>Key Base Cases</vt:lpstr>
      <vt:lpstr>Conclusion &amp; Q&amp;A</vt:lpstr>
      <vt:lpstr>Image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225073390</cp:lastModifiedBy>
  <cp:revision>13</cp:revision>
  <dcterms:created xsi:type="dcterms:W3CDTF">2026-05-29T17:33:21Z</dcterms:created>
  <dcterms:modified xsi:type="dcterms:W3CDTF">2026-05-30T11:00:19Z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2026-05-29T00:00:00Z</vt:filetime>
  </property>
  <property fmtid="{D5CDD505-2E9C-101B-9397-08002B2CF9AE}" pid="3" name="LastSaved">
    <vt:filetime>2026-05-29T00:00:00Z</vt:filetime>
  </property>
</Properties>
</file>